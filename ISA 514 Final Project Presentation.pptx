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5143500" type="screen16x9"/>
  <p:notesSz cx="6858000" cy="9144000"/>
  <p:embeddedFontLst>
    <p:embeddedFont>
      <p:font typeface="Lato" panose="020F0502020204030203" pitchFamily="34" charset="0"/>
      <p:regular r:id="rId60"/>
      <p:bold r:id="rId61"/>
      <p:italic r:id="rId62"/>
      <p:boldItalic r:id="rId63"/>
    </p:embeddedFont>
    <p:embeddedFont>
      <p:font typeface="Lato Light" panose="020F0502020204030203" pitchFamily="34" charset="0"/>
      <p:regular r:id="rId64"/>
      <p:bold r:id="rId65"/>
      <p:italic r:id="rId66"/>
      <p:boldItalic r:id="rId67"/>
    </p:embeddedFont>
    <p:embeddedFont>
      <p:font typeface="Roboto Slab" pitchFamily="2" charset="0"/>
      <p:regular r:id="rId68"/>
      <p:bold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3aeaf447e0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3aeaf447e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ac676154f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ac676154f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aecaf4fea3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aecaf4fea3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ad2a6bcf0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ad2a6bcf0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aeaf447e00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aeaf447e0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ebe510039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aebe51003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aecaf4fea3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aecaf4fea3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c676154f3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c676154f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ecaf4fea3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ecaf4fea3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Really emphasize the importance of text mining and how it will help our analysis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ebe51003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ebe51003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aebe51003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aebe51003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YouTube: attempted to utilize YouTube Data API v3, but met with 100 requests per day limit</a:t>
            </a:r>
            <a:endParaRPr/>
          </a:p>
          <a:p>
            <a:pPr marL="0" lvl="0" indent="0" algn="l" rtl="0">
              <a:spcBef>
                <a:spcPts val="0"/>
              </a:spcBef>
              <a:spcAft>
                <a:spcPts val="0"/>
              </a:spcAft>
              <a:buNone/>
            </a:pPr>
            <a:r>
              <a:rPr lang="en"/>
              <a:t>YouTube: yt-dlp essentially creates a data collection API</a:t>
            </a:r>
            <a:endParaRPr/>
          </a:p>
          <a:p>
            <a:pPr marL="0" lvl="0" indent="0" algn="l" rtl="0">
              <a:spcBef>
                <a:spcPts val="0"/>
              </a:spcBef>
              <a:spcAft>
                <a:spcPts val="0"/>
              </a:spcAft>
              <a:buNone/>
            </a:pPr>
            <a:r>
              <a:rPr lang="en"/>
              <a:t>Spotify: Spotify Web API endpoint for audio features was deprecated 11/2024</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ecaf4fea3_0_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aecaf4fea3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aecaf4fea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ecaf4fe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Inaccurate chart_year was an XXXTentacion song from 2022 labeled as 2029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ecaf4fea3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aecaf4fea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Major categories for genre: pop, rock, R&amp;B, jazz, country, etc.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aecaf4fea3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aecaf4fea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ecaf4fea3_0_3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aecaf4fea3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aecaf4fea3_0_3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aecaf4fea3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aecaf4fea3_0_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aecaf4fea3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aecaf4fea3_0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aecaf4fea3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ecaf4fea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ecaf4fea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aecaf4fea3_0_3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aecaf4fea3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a5f8e6c29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a5f8e6c2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ecaf4fea3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aecaf4fea3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aecaf4fea3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aecaf4fea3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aebe510039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aebe51003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aebe510039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aebe510039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5fc26642c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a5fc26642c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ecaf4fea3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aecaf4fea3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aecaf4fea3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aecaf4fea3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aecaf4fea3_0_3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aecaf4fea3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ecaf4fea3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aecaf4fea3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a5fc26642c_2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a5fc26642c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aeaf447e00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aeaf447e0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Need to speak about tuning process for both models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aecaf4fea3_0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aecaf4fea3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Need to speak about tuning process for both models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a5fc26642c_2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a5fc26642c_2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a5fc26642c_2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a5fc26642c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aecaf4fea3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aecaf4fea3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Need to speak about tuning process for both models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a5fc26642c_2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a5fc26642c_2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a5fc26642c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a5fc26642c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aecaf4fea3_0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aecaf4fea3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Need to speak about tuning process for both models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aebe51003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aebe51003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aecaf4fea3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aecaf4fea3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a5fc26642c_2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a5fc26642c_2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aebe510039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aebe51003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aebe510039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aebe510039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aebe510039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aebe510039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ac676154f3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ac676154f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ac676154f3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ac676154f3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a5fc26642c_2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a5fc26642c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a5fc26642c_2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a5fc26642c_2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a5fc26642c_2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a5fc26642c_2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a5fc26642c_2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a5fc26642c_2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a5fc26642c_2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3a5fc26642c_2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a5fc26642c_2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a5fc26642c_2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a5fc26642c_2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a5fc26642c_2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a5ffa81a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a5ffa81a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9_Title Slide_Red">
  <p:cSld name="9_Title Slide_Red">
    <p:spTree>
      <p:nvGrpSpPr>
        <p:cNvPr id="1" name="Shape 11"/>
        <p:cNvGrpSpPr/>
        <p:nvPr/>
      </p:nvGrpSpPr>
      <p:grpSpPr>
        <a:xfrm>
          <a:off x="0" y="0"/>
          <a:ext cx="0" cy="0"/>
          <a:chOff x="0" y="0"/>
          <a:chExt cx="0" cy="0"/>
        </a:xfrm>
      </p:grpSpPr>
      <p:sp>
        <p:nvSpPr>
          <p:cNvPr id="12" name="Google Shape;12;p2"/>
          <p:cNvSpPr/>
          <p:nvPr/>
        </p:nvSpPr>
        <p:spPr>
          <a:xfrm>
            <a:off x="0" y="0"/>
            <a:ext cx="9144000" cy="5143500"/>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sp>
        <p:nvSpPr>
          <p:cNvPr id="13" name="Google Shape;13;p2"/>
          <p:cNvSpPr txBox="1">
            <a:spLocks noGrp="1"/>
          </p:cNvSpPr>
          <p:nvPr>
            <p:ph type="ctrTitle"/>
          </p:nvPr>
        </p:nvSpPr>
        <p:spPr>
          <a:xfrm>
            <a:off x="1143000" y="1963600"/>
            <a:ext cx="6858000" cy="11262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accent6"/>
              </a:buClr>
              <a:buSzPts val="3600"/>
              <a:buFont typeface="Roboto Slab"/>
              <a:buNone/>
              <a:defRPr sz="3600" b="0">
                <a:solidFill>
                  <a:schemeClr val="accent6"/>
                </a:solidFill>
                <a:latin typeface="Roboto Slab"/>
                <a:ea typeface="Roboto Slab"/>
                <a:cs typeface="Roboto Slab"/>
                <a:sym typeface="Roboto Slab"/>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2"/>
          <p:cNvSpPr txBox="1">
            <a:spLocks noGrp="1"/>
          </p:cNvSpPr>
          <p:nvPr>
            <p:ph type="subTitle" idx="1"/>
          </p:nvPr>
        </p:nvSpPr>
        <p:spPr>
          <a:xfrm>
            <a:off x="1143000" y="3176293"/>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accent6"/>
              </a:buClr>
              <a:buSzPts val="1800"/>
              <a:buNone/>
              <a:defRPr sz="1800">
                <a:solidFill>
                  <a:schemeClr val="accent6"/>
                </a:solidFill>
                <a:latin typeface="Lato Light"/>
                <a:ea typeface="Lato Light"/>
                <a:cs typeface="Lato Light"/>
                <a:sym typeface="Lato Light"/>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5" name="Google Shape;15;p2"/>
          <p:cNvSpPr/>
          <p:nvPr/>
        </p:nvSpPr>
        <p:spPr>
          <a:xfrm>
            <a:off x="117231" y="123092"/>
            <a:ext cx="8903700" cy="4917900"/>
          </a:xfrm>
          <a:prstGeom prst="rect">
            <a:avLst/>
          </a:prstGeom>
          <a:noFill/>
          <a:ln w="9525" cap="flat" cmpd="sng">
            <a:solidFill>
              <a:schemeClr val="accent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pic>
        <p:nvPicPr>
          <p:cNvPr id="16" name="Google Shape;16;p2"/>
          <p:cNvPicPr preferRelativeResize="0"/>
          <p:nvPr/>
        </p:nvPicPr>
        <p:blipFill rotWithShape="1">
          <a:blip r:embed="rId2">
            <a:alphaModFix/>
          </a:blip>
          <a:srcRect/>
          <a:stretch/>
        </p:blipFill>
        <p:spPr>
          <a:xfrm>
            <a:off x="4188069" y="1027496"/>
            <a:ext cx="762002" cy="8318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3_Title and Content" type="obj">
  <p:cSld name="OBJECT">
    <p:spTree>
      <p:nvGrpSpPr>
        <p:cNvPr id="1" name="Shape 17"/>
        <p:cNvGrpSpPr/>
        <p:nvPr/>
      </p:nvGrpSpPr>
      <p:grpSpPr>
        <a:xfrm>
          <a:off x="0" y="0"/>
          <a:ext cx="0" cy="0"/>
          <a:chOff x="0" y="0"/>
          <a:chExt cx="0" cy="0"/>
        </a:xfrm>
      </p:grpSpPr>
      <p:sp>
        <p:nvSpPr>
          <p:cNvPr id="18" name="Google Shape;18;p3"/>
          <p:cNvSpPr/>
          <p:nvPr/>
        </p:nvSpPr>
        <p:spPr>
          <a:xfrm>
            <a:off x="117231" y="123092"/>
            <a:ext cx="8903700" cy="4917900"/>
          </a:xfrm>
          <a:prstGeom prst="rect">
            <a:avLst/>
          </a:pr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Light"/>
              <a:ea typeface="Lato Light"/>
              <a:cs typeface="Lato Light"/>
              <a:sym typeface="Lato Light"/>
            </a:endParaRPr>
          </a:p>
        </p:txBody>
      </p:sp>
      <p:sp>
        <p:nvSpPr>
          <p:cNvPr id="19" name="Google Shape;19;p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 name="Google Shape;21;p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 name="Google Shape;24;p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p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SzPts val="900"/>
              <a:buNone/>
              <a:defRPr/>
            </a:lvl1pPr>
            <a:lvl2pPr marL="0" marR="0" lvl="1" indent="0" algn="r">
              <a:lnSpc>
                <a:spcPct val="100000"/>
              </a:lnSpc>
              <a:spcBef>
                <a:spcPts val="0"/>
              </a:spcBef>
              <a:spcAft>
                <a:spcPts val="0"/>
              </a:spcAft>
              <a:buSzPts val="900"/>
              <a:buNone/>
              <a:defRPr/>
            </a:lvl2pPr>
            <a:lvl3pPr marL="0" marR="0" lvl="2" indent="0" algn="r">
              <a:lnSpc>
                <a:spcPct val="100000"/>
              </a:lnSpc>
              <a:spcBef>
                <a:spcPts val="0"/>
              </a:spcBef>
              <a:spcAft>
                <a:spcPts val="0"/>
              </a:spcAft>
              <a:buSzPts val="900"/>
              <a:buNone/>
              <a:defRPr/>
            </a:lvl3pPr>
            <a:lvl4pPr marL="0" marR="0" lvl="3" indent="0" algn="r">
              <a:lnSpc>
                <a:spcPct val="100000"/>
              </a:lnSpc>
              <a:spcBef>
                <a:spcPts val="0"/>
              </a:spcBef>
              <a:spcAft>
                <a:spcPts val="0"/>
              </a:spcAft>
              <a:buSzPts val="900"/>
              <a:buNone/>
              <a:defRPr/>
            </a:lvl4pPr>
            <a:lvl5pPr marL="0" marR="0" lvl="4" indent="0" algn="r">
              <a:lnSpc>
                <a:spcPct val="100000"/>
              </a:lnSpc>
              <a:spcBef>
                <a:spcPts val="0"/>
              </a:spcBef>
              <a:spcAft>
                <a:spcPts val="0"/>
              </a:spcAft>
              <a:buSzPts val="900"/>
              <a:buNone/>
              <a:defRPr/>
            </a:lvl5pPr>
            <a:lvl6pPr marL="0" marR="0" lvl="5" indent="0" algn="r">
              <a:lnSpc>
                <a:spcPct val="100000"/>
              </a:lnSpc>
              <a:spcBef>
                <a:spcPts val="0"/>
              </a:spcBef>
              <a:spcAft>
                <a:spcPts val="0"/>
              </a:spcAft>
              <a:buSzPts val="900"/>
              <a:buNone/>
              <a:defRPr/>
            </a:lvl6pPr>
            <a:lvl7pPr marL="0" marR="0" lvl="6" indent="0" algn="r">
              <a:lnSpc>
                <a:spcPct val="100000"/>
              </a:lnSpc>
              <a:spcBef>
                <a:spcPts val="0"/>
              </a:spcBef>
              <a:spcAft>
                <a:spcPts val="0"/>
              </a:spcAft>
              <a:buSzPts val="900"/>
              <a:buNone/>
              <a:defRPr/>
            </a:lvl7pPr>
            <a:lvl8pPr marL="0" marR="0" lvl="7" indent="0" algn="r">
              <a:lnSpc>
                <a:spcPct val="100000"/>
              </a:lnSpc>
              <a:spcBef>
                <a:spcPts val="0"/>
              </a:spcBef>
              <a:spcAft>
                <a:spcPts val="0"/>
              </a:spcAft>
              <a:buSzPts val="900"/>
              <a:buNone/>
              <a:defRPr/>
            </a:lvl8pPr>
            <a:lvl9pPr marL="0" marR="0" lvl="8" indent="0" algn="r">
              <a:lnSpc>
                <a:spcPct val="100000"/>
              </a:lnSpc>
              <a:spcBef>
                <a:spcPts val="0"/>
              </a:spcBef>
              <a:spcAft>
                <a:spcPts val="0"/>
              </a:spcAft>
              <a:buSzPts val="90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5_Title and Content_Tan">
  <p:cSld name="5_Title and Content_Tan">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1359878" y="273844"/>
            <a:ext cx="71556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5"/>
          <p:cNvSpPr txBox="1">
            <a:spLocks noGrp="1"/>
          </p:cNvSpPr>
          <p:nvPr>
            <p:ph type="body" idx="1"/>
          </p:nvPr>
        </p:nvSpPr>
        <p:spPr>
          <a:xfrm>
            <a:off x="1359878" y="1369219"/>
            <a:ext cx="71556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 name="Google Shape;30;p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9pPr>
          </a:lstStyle>
          <a:p>
            <a:pPr marL="0" lvl="0" indent="0" algn="r" rtl="0">
              <a:spcBef>
                <a:spcPts val="0"/>
              </a:spcBef>
              <a:spcAft>
                <a:spcPts val="0"/>
              </a:spcAft>
              <a:buNone/>
            </a:pPr>
            <a:fld id="{00000000-1234-1234-1234-123412341234}" type="slidenum">
              <a:rPr lang="en"/>
              <a:t>‹#›</a:t>
            </a:fld>
            <a:endParaRPr/>
          </a:p>
        </p:txBody>
      </p:sp>
      <p:cxnSp>
        <p:nvCxnSpPr>
          <p:cNvPr id="31" name="Google Shape;31;p5"/>
          <p:cNvCxnSpPr/>
          <p:nvPr/>
        </p:nvCxnSpPr>
        <p:spPr>
          <a:xfrm>
            <a:off x="720969" y="1369219"/>
            <a:ext cx="0" cy="3263400"/>
          </a:xfrm>
          <a:prstGeom prst="straightConnector1">
            <a:avLst/>
          </a:prstGeom>
          <a:noFill/>
          <a:ln w="9525" cap="flat" cmpd="sng">
            <a:solidFill>
              <a:schemeClr val="dk1"/>
            </a:solidFill>
            <a:prstDash val="solid"/>
            <a:miter lim="800000"/>
            <a:headEnd type="none" w="sm" len="sm"/>
            <a:tailEnd type="none" w="sm" len="sm"/>
          </a:ln>
        </p:spPr>
      </p:cxnSp>
      <p:pic>
        <p:nvPicPr>
          <p:cNvPr id="32" name="Google Shape;32;p5"/>
          <p:cNvPicPr preferRelativeResize="0"/>
          <p:nvPr/>
        </p:nvPicPr>
        <p:blipFill rotWithShape="1">
          <a:blip r:embed="rId2">
            <a:alphaModFix/>
          </a:blip>
          <a:srcRect/>
          <a:stretch/>
        </p:blipFill>
        <p:spPr>
          <a:xfrm>
            <a:off x="423842" y="435356"/>
            <a:ext cx="614769" cy="67114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3"/>
        <p:cNvGrpSpPr/>
        <p:nvPr/>
      </p:nvGrpSpPr>
      <p:grpSpPr>
        <a:xfrm>
          <a:off x="0" y="0"/>
          <a:ext cx="0" cy="0"/>
          <a:chOff x="0" y="0"/>
          <a:chExt cx="0" cy="0"/>
        </a:xfrm>
      </p:grpSpPr>
      <p:cxnSp>
        <p:nvCxnSpPr>
          <p:cNvPr id="34" name="Google Shape;34;p6"/>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35" name="Google Shape;35;p6"/>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36" name="Google Shape;36;p6"/>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37" name="Google Shape;37;p6"/>
          <p:cNvSpPr txBox="1">
            <a:spLocks noGrp="1"/>
          </p:cNvSpPr>
          <p:nvPr>
            <p:ph type="ctrTitle"/>
          </p:nvPr>
        </p:nvSpPr>
        <p:spPr>
          <a:xfrm>
            <a:off x="2371725" y="630225"/>
            <a:ext cx="6331500" cy="1542000"/>
          </a:xfrm>
          <a:prstGeom prst="rect">
            <a:avLst/>
          </a:prstGeom>
        </p:spPr>
        <p:txBody>
          <a:bodyPr spcFirstLastPara="1" wrap="square" lIns="68575" tIns="34275" rIns="68575" bIns="3427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6"/>
          <p:cNvSpPr txBox="1">
            <a:spLocks noGrp="1"/>
          </p:cNvSpPr>
          <p:nvPr>
            <p:ph type="subTitle" idx="1"/>
          </p:nvPr>
        </p:nvSpPr>
        <p:spPr>
          <a:xfrm>
            <a:off x="2390267" y="3238450"/>
            <a:ext cx="6331500" cy="1241700"/>
          </a:xfrm>
          <a:prstGeom prst="rect">
            <a:avLst/>
          </a:prstGeom>
        </p:spPr>
        <p:txBody>
          <a:bodyPr spcFirstLastPara="1" wrap="square" lIns="68575" tIns="34275" rIns="68575" bIns="34275" anchor="b" anchorCtr="0">
            <a:normAutofit/>
          </a:bodyPr>
          <a:lstStyle>
            <a:lvl1pPr lvl="0">
              <a:lnSpc>
                <a:spcPct val="100000"/>
              </a:lnSpc>
              <a:spcBef>
                <a:spcPts val="800"/>
              </a:spcBef>
              <a:spcAft>
                <a:spcPts val="0"/>
              </a:spcAft>
              <a:buClr>
                <a:schemeClr val="lt1"/>
              </a:buClr>
              <a:buSzPts val="2100"/>
              <a:buNone/>
              <a:defRPr>
                <a:solidFill>
                  <a:schemeClr val="lt1"/>
                </a:solidFill>
              </a:defRPr>
            </a:lvl1pPr>
            <a:lvl2pPr lvl="1">
              <a:lnSpc>
                <a:spcPct val="100000"/>
              </a:lnSpc>
              <a:spcBef>
                <a:spcPts val="400"/>
              </a:spcBef>
              <a:spcAft>
                <a:spcPts val="0"/>
              </a:spcAft>
              <a:buClr>
                <a:schemeClr val="lt1"/>
              </a:buClr>
              <a:buSzPts val="1800"/>
              <a:buNone/>
              <a:defRPr sz="1800">
                <a:solidFill>
                  <a:schemeClr val="lt1"/>
                </a:solidFill>
              </a:defRPr>
            </a:lvl2pPr>
            <a:lvl3pPr lvl="2">
              <a:lnSpc>
                <a:spcPct val="100000"/>
              </a:lnSpc>
              <a:spcBef>
                <a:spcPts val="400"/>
              </a:spcBef>
              <a:spcAft>
                <a:spcPts val="0"/>
              </a:spcAft>
              <a:buClr>
                <a:schemeClr val="lt1"/>
              </a:buClr>
              <a:buSzPts val="1800"/>
              <a:buNone/>
              <a:defRPr sz="1800">
                <a:solidFill>
                  <a:schemeClr val="lt1"/>
                </a:solidFill>
              </a:defRPr>
            </a:lvl3pPr>
            <a:lvl4pPr lvl="3">
              <a:lnSpc>
                <a:spcPct val="100000"/>
              </a:lnSpc>
              <a:spcBef>
                <a:spcPts val="400"/>
              </a:spcBef>
              <a:spcAft>
                <a:spcPts val="0"/>
              </a:spcAft>
              <a:buClr>
                <a:schemeClr val="lt1"/>
              </a:buClr>
              <a:buSzPts val="1800"/>
              <a:buNone/>
              <a:defRPr sz="1800">
                <a:solidFill>
                  <a:schemeClr val="lt1"/>
                </a:solidFill>
              </a:defRPr>
            </a:lvl4pPr>
            <a:lvl5pPr lvl="4">
              <a:lnSpc>
                <a:spcPct val="100000"/>
              </a:lnSpc>
              <a:spcBef>
                <a:spcPts val="400"/>
              </a:spcBef>
              <a:spcAft>
                <a:spcPts val="0"/>
              </a:spcAft>
              <a:buClr>
                <a:schemeClr val="lt1"/>
              </a:buClr>
              <a:buSzPts val="1800"/>
              <a:buNone/>
              <a:defRPr sz="1800">
                <a:solidFill>
                  <a:schemeClr val="lt1"/>
                </a:solidFill>
              </a:defRPr>
            </a:lvl5pPr>
            <a:lvl6pPr lvl="5">
              <a:lnSpc>
                <a:spcPct val="100000"/>
              </a:lnSpc>
              <a:spcBef>
                <a:spcPts val="400"/>
              </a:spcBef>
              <a:spcAft>
                <a:spcPts val="0"/>
              </a:spcAft>
              <a:buClr>
                <a:schemeClr val="lt1"/>
              </a:buClr>
              <a:buSzPts val="1800"/>
              <a:buNone/>
              <a:defRPr sz="1800">
                <a:solidFill>
                  <a:schemeClr val="lt1"/>
                </a:solidFill>
              </a:defRPr>
            </a:lvl6pPr>
            <a:lvl7pPr lvl="6">
              <a:lnSpc>
                <a:spcPct val="100000"/>
              </a:lnSpc>
              <a:spcBef>
                <a:spcPts val="400"/>
              </a:spcBef>
              <a:spcAft>
                <a:spcPts val="0"/>
              </a:spcAft>
              <a:buClr>
                <a:schemeClr val="lt1"/>
              </a:buClr>
              <a:buSzPts val="1800"/>
              <a:buNone/>
              <a:defRPr sz="1800">
                <a:solidFill>
                  <a:schemeClr val="lt1"/>
                </a:solidFill>
              </a:defRPr>
            </a:lvl7pPr>
            <a:lvl8pPr lvl="7">
              <a:lnSpc>
                <a:spcPct val="100000"/>
              </a:lnSpc>
              <a:spcBef>
                <a:spcPts val="400"/>
              </a:spcBef>
              <a:spcAft>
                <a:spcPts val="0"/>
              </a:spcAft>
              <a:buClr>
                <a:schemeClr val="lt1"/>
              </a:buClr>
              <a:buSzPts val="1800"/>
              <a:buNone/>
              <a:defRPr sz="1800">
                <a:solidFill>
                  <a:schemeClr val="lt1"/>
                </a:solidFill>
              </a:defRPr>
            </a:lvl8pPr>
            <a:lvl9pPr lvl="8">
              <a:lnSpc>
                <a:spcPct val="100000"/>
              </a:lnSpc>
              <a:spcBef>
                <a:spcPts val="400"/>
              </a:spcBef>
              <a:spcAft>
                <a:spcPts val="0"/>
              </a:spcAft>
              <a:buClr>
                <a:schemeClr val="lt1"/>
              </a:buClr>
              <a:buSzPts val="1800"/>
              <a:buNone/>
              <a:defRPr sz="1800">
                <a:solidFill>
                  <a:schemeClr val="lt1"/>
                </a:solidFill>
              </a:defRPr>
            </a:lvl9pPr>
          </a:lstStyle>
          <a:p>
            <a:endParaRPr/>
          </a:p>
        </p:txBody>
      </p:sp>
      <p:sp>
        <p:nvSpPr>
          <p:cNvPr id="39" name="Google Shape;39;p6"/>
          <p:cNvSpPr txBox="1">
            <a:spLocks noGrp="1"/>
          </p:cNvSpPr>
          <p:nvPr>
            <p:ph type="sldNum" idx="12"/>
          </p:nvPr>
        </p:nvSpPr>
        <p:spPr>
          <a:xfrm>
            <a:off x="8497999" y="4688759"/>
            <a:ext cx="548700" cy="393600"/>
          </a:xfrm>
          <a:prstGeom prst="rect">
            <a:avLst/>
          </a:prstGeom>
        </p:spPr>
        <p:txBody>
          <a:bodyPr spcFirstLastPara="1" wrap="square" lIns="68575" tIns="34275" rIns="68575" bIns="3427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cxnSp>
        <p:nvCxnSpPr>
          <p:cNvPr id="41" name="Google Shape;41;p7"/>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42" name="Google Shape;42;p7"/>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43" name="Google Shape;43;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4" name="Google Shape;44;p7"/>
          <p:cNvSpPr txBox="1">
            <a:spLocks noGrp="1"/>
          </p:cNvSpPr>
          <p:nvPr>
            <p:ph type="title"/>
          </p:nvPr>
        </p:nvSpPr>
        <p:spPr>
          <a:xfrm>
            <a:off x="2400250" y="575950"/>
            <a:ext cx="6321600" cy="635400"/>
          </a:xfrm>
          <a:prstGeom prst="rect">
            <a:avLst/>
          </a:prstGeom>
        </p:spPr>
        <p:txBody>
          <a:bodyPr spcFirstLastPara="1" wrap="square" lIns="68575" tIns="34275" rIns="68575" bIns="34275" anchor="ctr" anchorCtr="0">
            <a:norm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5" name="Google Shape;45;p7"/>
          <p:cNvSpPr txBox="1">
            <a:spLocks noGrp="1"/>
          </p:cNvSpPr>
          <p:nvPr>
            <p:ph type="body" idx="1"/>
          </p:nvPr>
        </p:nvSpPr>
        <p:spPr>
          <a:xfrm>
            <a:off x="2410112" y="1595776"/>
            <a:ext cx="6321600" cy="3002400"/>
          </a:xfrm>
          <a:prstGeom prst="rect">
            <a:avLst/>
          </a:prstGeom>
        </p:spPr>
        <p:txBody>
          <a:bodyPr spcFirstLastPara="1" wrap="square" lIns="68575" tIns="34275" rIns="68575" bIns="34275" anchor="t" anchorCtr="0">
            <a:normAutofit/>
          </a:bodyPr>
          <a:lstStyle>
            <a:lvl1pPr marL="457200" lvl="0" indent="-361950">
              <a:spcBef>
                <a:spcPts val="800"/>
              </a:spcBef>
              <a:spcAft>
                <a:spcPts val="0"/>
              </a:spcAft>
              <a:buSzPts val="2100"/>
              <a:buChar char="•"/>
              <a:defRPr/>
            </a:lvl1pPr>
            <a:lvl2pPr marL="914400" lvl="1" indent="-342900">
              <a:spcBef>
                <a:spcPts val="400"/>
              </a:spcBef>
              <a:spcAft>
                <a:spcPts val="0"/>
              </a:spcAft>
              <a:buSzPts val="1800"/>
              <a:buChar char="•"/>
              <a:defRPr/>
            </a:lvl2pPr>
            <a:lvl3pPr marL="1371600" lvl="2" indent="-323850">
              <a:spcBef>
                <a:spcPts val="400"/>
              </a:spcBef>
              <a:spcAft>
                <a:spcPts val="0"/>
              </a:spcAft>
              <a:buSzPts val="1500"/>
              <a:buChar char="•"/>
              <a:defRPr/>
            </a:lvl3pPr>
            <a:lvl4pPr marL="1828800" lvl="3" indent="-317500">
              <a:spcBef>
                <a:spcPts val="400"/>
              </a:spcBef>
              <a:spcAft>
                <a:spcPts val="0"/>
              </a:spcAft>
              <a:buSzPts val="1400"/>
              <a:buChar char="•"/>
              <a:defRPr/>
            </a:lvl4pPr>
            <a:lvl5pPr marL="2286000" lvl="4" indent="-317500">
              <a:spcBef>
                <a:spcPts val="400"/>
              </a:spcBef>
              <a:spcAft>
                <a:spcPts val="0"/>
              </a:spcAft>
              <a:buSzPts val="1400"/>
              <a:buChar char="•"/>
              <a:defRPr/>
            </a:lvl5pPr>
            <a:lvl6pPr marL="2743200" lvl="5" indent="-317500">
              <a:spcBef>
                <a:spcPts val="400"/>
              </a:spcBef>
              <a:spcAft>
                <a:spcPts val="0"/>
              </a:spcAft>
              <a:buSzPts val="1400"/>
              <a:buChar char="•"/>
              <a:defRPr/>
            </a:lvl6pPr>
            <a:lvl7pPr marL="3200400" lvl="6" indent="-317500">
              <a:spcBef>
                <a:spcPts val="400"/>
              </a:spcBef>
              <a:spcAft>
                <a:spcPts val="0"/>
              </a:spcAft>
              <a:buSzPts val="1400"/>
              <a:buChar char="•"/>
              <a:defRPr/>
            </a:lvl7pPr>
            <a:lvl8pPr marL="3657600" lvl="7" indent="-317500">
              <a:spcBef>
                <a:spcPts val="400"/>
              </a:spcBef>
              <a:spcAft>
                <a:spcPts val="0"/>
              </a:spcAft>
              <a:buSzPts val="1400"/>
              <a:buChar char="•"/>
              <a:defRPr/>
            </a:lvl8pPr>
            <a:lvl9pPr marL="4114800" lvl="8" indent="-317500">
              <a:spcBef>
                <a:spcPts val="400"/>
              </a:spcBef>
              <a:spcAft>
                <a:spcPts val="0"/>
              </a:spcAft>
              <a:buSzPts val="1400"/>
              <a:buChar char="•"/>
              <a:defRPr/>
            </a:lvl9pPr>
          </a:lstStyle>
          <a:p>
            <a:endParaRPr/>
          </a:p>
        </p:txBody>
      </p:sp>
      <p:sp>
        <p:nvSpPr>
          <p:cNvPr id="46" name="Google Shape;46;p7"/>
          <p:cNvSpPr txBox="1">
            <a:spLocks noGrp="1"/>
          </p:cNvSpPr>
          <p:nvPr>
            <p:ph type="sldNum" idx="12"/>
          </p:nvPr>
        </p:nvSpPr>
        <p:spPr>
          <a:xfrm>
            <a:off x="8497999" y="4688759"/>
            <a:ext cx="548700" cy="393600"/>
          </a:xfrm>
          <a:prstGeom prst="rect">
            <a:avLst/>
          </a:prstGeom>
        </p:spPr>
        <p:txBody>
          <a:bodyPr spcFirstLastPara="1" wrap="square" lIns="68575" tIns="34275" rIns="68575" bIns="342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ECE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Roboto Slab"/>
              <a:buNone/>
              <a:defRPr sz="3300" b="0" i="0" u="none" strike="noStrike" cap="none">
                <a:solidFill>
                  <a:schemeClr val="dk1"/>
                </a:solidFill>
                <a:latin typeface="Roboto Slab"/>
                <a:ea typeface="Roboto Slab"/>
                <a:cs typeface="Roboto Slab"/>
                <a:sym typeface="Roboto Slab"/>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Light"/>
                <a:ea typeface="Lato Light"/>
                <a:cs typeface="Lato Light"/>
                <a:sym typeface="Lato Light"/>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Light"/>
                <a:ea typeface="Lato Light"/>
                <a:cs typeface="Lato Light"/>
                <a:sym typeface="Lato Light"/>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Light"/>
                <a:ea typeface="Lato Light"/>
                <a:cs typeface="Lato Light"/>
                <a:sym typeface="Lato Light"/>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Light"/>
                <a:ea typeface="Lato Light"/>
                <a:cs typeface="Lato Light"/>
                <a:sym typeface="Lato Light"/>
              </a:defRPr>
            </a:lvl9pPr>
          </a:lstStyle>
          <a:p>
            <a:endParaRPr/>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D5888C"/>
                </a:solidFill>
                <a:latin typeface="Lato Light"/>
                <a:ea typeface="Lato Light"/>
                <a:cs typeface="Lato Light"/>
                <a:sym typeface="Lato Light"/>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D5888C"/>
                </a:solidFill>
                <a:latin typeface="Lato Light"/>
                <a:ea typeface="Lato Light"/>
                <a:cs typeface="Lato Light"/>
                <a:sym typeface="Lato Light"/>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Light"/>
                <a:ea typeface="Lato Light"/>
                <a:cs typeface="Lato Light"/>
                <a:sym typeface="Lato Light"/>
              </a:defRPr>
            </a:lvl9pPr>
          </a:lstStyle>
          <a:p>
            <a:endParaRPr/>
          </a:p>
        </p:txBody>
      </p:sp>
      <p:sp>
        <p:nvSpPr>
          <p:cNvPr id="10" name="Google Shape;10;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D5888C"/>
                </a:solidFill>
                <a:latin typeface="Lato Light"/>
                <a:ea typeface="Lato Light"/>
                <a:cs typeface="Lato Light"/>
                <a:sym typeface="Lato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8"/>
          <p:cNvSpPr txBox="1">
            <a:spLocks noGrp="1"/>
          </p:cNvSpPr>
          <p:nvPr>
            <p:ph type="ctrTitle"/>
          </p:nvPr>
        </p:nvSpPr>
        <p:spPr>
          <a:xfrm>
            <a:off x="2371725" y="630225"/>
            <a:ext cx="6331500" cy="22116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Predicting Song Views &amp; Virality on YouTube</a:t>
            </a:r>
            <a:endParaRPr/>
          </a:p>
        </p:txBody>
      </p:sp>
      <p:sp>
        <p:nvSpPr>
          <p:cNvPr id="52" name="Google Shape;52;p8"/>
          <p:cNvSpPr txBox="1">
            <a:spLocks noGrp="1"/>
          </p:cNvSpPr>
          <p:nvPr>
            <p:ph type="subTitle" idx="1"/>
          </p:nvPr>
        </p:nvSpPr>
        <p:spPr>
          <a:xfrm>
            <a:off x="2390275" y="3722250"/>
            <a:ext cx="6331500" cy="757800"/>
          </a:xfrm>
          <a:prstGeom prst="rect">
            <a:avLst/>
          </a:prstGeom>
        </p:spPr>
        <p:txBody>
          <a:bodyPr spcFirstLastPara="1" wrap="square" lIns="68575" tIns="34275" rIns="68575" bIns="34275" anchor="b" anchorCtr="0">
            <a:normAutofit lnSpcReduction="10000"/>
          </a:bodyPr>
          <a:lstStyle/>
          <a:p>
            <a:pPr marL="0" lvl="0" indent="0" algn="l" rtl="0">
              <a:spcBef>
                <a:spcPts val="800"/>
              </a:spcBef>
              <a:spcAft>
                <a:spcPts val="0"/>
              </a:spcAft>
              <a:buNone/>
            </a:pPr>
            <a:r>
              <a:rPr lang="en"/>
              <a:t>Harrison Cradduck, Marah Donahoe, </a:t>
            </a:r>
            <a:endParaRPr/>
          </a:p>
          <a:p>
            <a:pPr marL="0" lvl="0" indent="0" algn="l" rtl="0">
              <a:spcBef>
                <a:spcPts val="800"/>
              </a:spcBef>
              <a:spcAft>
                <a:spcPts val="0"/>
              </a:spcAft>
              <a:buNone/>
            </a:pPr>
            <a:r>
              <a:rPr lang="en"/>
              <a:t>Joey Endres, &amp; William Knapp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Agenda</a:t>
            </a:r>
            <a:endParaRPr/>
          </a:p>
        </p:txBody>
      </p:sp>
      <p:sp>
        <p:nvSpPr>
          <p:cNvPr id="58" name="Google Shape;58;p9"/>
          <p:cNvSpPr txBox="1">
            <a:spLocks noGrp="1"/>
          </p:cNvSpPr>
          <p:nvPr>
            <p:ph type="body" idx="1"/>
          </p:nvPr>
        </p:nvSpPr>
        <p:spPr>
          <a:xfrm>
            <a:off x="1426088" y="1480884"/>
            <a:ext cx="69456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378" b="1">
                <a:latin typeface="Lato"/>
                <a:ea typeface="Lato"/>
                <a:cs typeface="Lato"/>
                <a:sym typeface="Lato"/>
              </a:rPr>
              <a:t>Problem</a:t>
            </a:r>
            <a:endParaRPr sz="2378" b="1">
              <a:latin typeface="Lato"/>
              <a:ea typeface="Lato"/>
              <a:cs typeface="Lato"/>
              <a:sym typeface="Lato"/>
            </a:endParaRPr>
          </a:p>
        </p:txBody>
      </p:sp>
      <p:sp>
        <p:nvSpPr>
          <p:cNvPr id="59" name="Google Shape;59;p9"/>
          <p:cNvSpPr/>
          <p:nvPr/>
        </p:nvSpPr>
        <p:spPr>
          <a:xfrm>
            <a:off x="628650" y="1480884"/>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1</a:t>
            </a:r>
            <a:endParaRPr sz="2605" b="1">
              <a:solidFill>
                <a:schemeClr val="lt1"/>
              </a:solidFill>
              <a:latin typeface="Lato"/>
              <a:ea typeface="Lato"/>
              <a:cs typeface="Lato"/>
              <a:sym typeface="Lato"/>
            </a:endParaRPr>
          </a:p>
        </p:txBody>
      </p:sp>
      <p:sp>
        <p:nvSpPr>
          <p:cNvPr id="60" name="Google Shape;60;p9"/>
          <p:cNvSpPr/>
          <p:nvPr/>
        </p:nvSpPr>
        <p:spPr>
          <a:xfrm>
            <a:off x="628650" y="2249863"/>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2</a:t>
            </a:r>
            <a:endParaRPr sz="2605" b="1">
              <a:solidFill>
                <a:schemeClr val="lt1"/>
              </a:solidFill>
              <a:latin typeface="Lato"/>
              <a:ea typeface="Lato"/>
              <a:cs typeface="Lato"/>
              <a:sym typeface="Lato"/>
            </a:endParaRPr>
          </a:p>
        </p:txBody>
      </p:sp>
      <p:sp>
        <p:nvSpPr>
          <p:cNvPr id="61" name="Google Shape;61;p9"/>
          <p:cNvSpPr/>
          <p:nvPr/>
        </p:nvSpPr>
        <p:spPr>
          <a:xfrm>
            <a:off x="628650" y="3018841"/>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3</a:t>
            </a:r>
            <a:endParaRPr sz="2605" b="1">
              <a:solidFill>
                <a:schemeClr val="lt1"/>
              </a:solidFill>
              <a:latin typeface="Lato"/>
              <a:ea typeface="Lato"/>
              <a:cs typeface="Lato"/>
              <a:sym typeface="Lato"/>
            </a:endParaRPr>
          </a:p>
        </p:txBody>
      </p:sp>
      <p:sp>
        <p:nvSpPr>
          <p:cNvPr id="62" name="Google Shape;62;p9"/>
          <p:cNvSpPr/>
          <p:nvPr/>
        </p:nvSpPr>
        <p:spPr>
          <a:xfrm>
            <a:off x="628650" y="3787820"/>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4</a:t>
            </a:r>
            <a:endParaRPr sz="2605" b="1">
              <a:solidFill>
                <a:schemeClr val="lt1"/>
              </a:solidFill>
              <a:latin typeface="Lato"/>
              <a:ea typeface="Lato"/>
              <a:cs typeface="Lato"/>
              <a:sym typeface="Lato"/>
            </a:endParaRPr>
          </a:p>
        </p:txBody>
      </p:sp>
      <p:sp>
        <p:nvSpPr>
          <p:cNvPr id="63" name="Google Shape;63;p9"/>
          <p:cNvSpPr txBox="1">
            <a:spLocks noGrp="1"/>
          </p:cNvSpPr>
          <p:nvPr>
            <p:ph type="body" idx="1"/>
          </p:nvPr>
        </p:nvSpPr>
        <p:spPr>
          <a:xfrm>
            <a:off x="1426088" y="2249863"/>
            <a:ext cx="69456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378" b="1">
                <a:latin typeface="Lato"/>
                <a:ea typeface="Lato"/>
                <a:cs typeface="Lato"/>
                <a:sym typeface="Lato"/>
              </a:rPr>
              <a:t>Data Collection, Preparation, &amp; Analysis</a:t>
            </a:r>
            <a:endParaRPr sz="2378" b="1">
              <a:latin typeface="Lato"/>
              <a:ea typeface="Lato"/>
              <a:cs typeface="Lato"/>
              <a:sym typeface="Lato"/>
            </a:endParaRPr>
          </a:p>
        </p:txBody>
      </p:sp>
      <p:sp>
        <p:nvSpPr>
          <p:cNvPr id="64" name="Google Shape;64;p9"/>
          <p:cNvSpPr txBox="1">
            <a:spLocks noGrp="1"/>
          </p:cNvSpPr>
          <p:nvPr>
            <p:ph type="body" idx="1"/>
          </p:nvPr>
        </p:nvSpPr>
        <p:spPr>
          <a:xfrm>
            <a:off x="1426088" y="3018841"/>
            <a:ext cx="69456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378" b="1">
                <a:latin typeface="Lato"/>
                <a:ea typeface="Lato"/>
                <a:cs typeface="Lato"/>
                <a:sym typeface="Lato"/>
              </a:rPr>
              <a:t>Modeling</a:t>
            </a:r>
            <a:endParaRPr sz="2378" b="1">
              <a:latin typeface="Lato"/>
              <a:ea typeface="Lato"/>
              <a:cs typeface="Lato"/>
              <a:sym typeface="Lato"/>
            </a:endParaRPr>
          </a:p>
        </p:txBody>
      </p:sp>
      <p:sp>
        <p:nvSpPr>
          <p:cNvPr id="65" name="Google Shape;65;p9"/>
          <p:cNvSpPr txBox="1">
            <a:spLocks noGrp="1"/>
          </p:cNvSpPr>
          <p:nvPr>
            <p:ph type="body" idx="1"/>
          </p:nvPr>
        </p:nvSpPr>
        <p:spPr>
          <a:xfrm>
            <a:off x="1426088" y="3787820"/>
            <a:ext cx="69456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378" b="1">
                <a:latin typeface="Lato"/>
                <a:ea typeface="Lato"/>
                <a:cs typeface="Lato"/>
                <a:sym typeface="Lato"/>
              </a:rPr>
              <a:t>Conclusions</a:t>
            </a:r>
            <a:endParaRPr sz="2378" b="1">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Abstract</a:t>
            </a:r>
            <a:endParaRPr/>
          </a:p>
        </p:txBody>
      </p:sp>
      <p:sp>
        <p:nvSpPr>
          <p:cNvPr id="71" name="Google Shape;71;p10"/>
          <p:cNvSpPr txBox="1">
            <a:spLocks noGrp="1"/>
          </p:cNvSpPr>
          <p:nvPr>
            <p:ph type="body" idx="1"/>
          </p:nvPr>
        </p:nvSpPr>
        <p:spPr>
          <a:xfrm>
            <a:off x="1359875" y="1369225"/>
            <a:ext cx="7508700" cy="3263400"/>
          </a:xfrm>
          <a:prstGeom prst="rect">
            <a:avLst/>
          </a:prstGeom>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a:t>Song virality and view count are often difficult to predict, as there are many variables involved. By running a </a:t>
            </a:r>
            <a:r>
              <a:rPr lang="en" sz="1800" b="1">
                <a:latin typeface="Lato"/>
                <a:ea typeface="Lato"/>
                <a:cs typeface="Lato"/>
                <a:sym typeface="Lato"/>
              </a:rPr>
              <a:t>random forest model</a:t>
            </a:r>
            <a:r>
              <a:rPr lang="en" sz="1800"/>
              <a:t>, we found that only 17% of the variability in music video view count is attributed to song metrics, artist information, and lyric sentiment. Other metrics related to music videos themselves, social media algorithms, and cultural factors likely explain the missing variation. Additionally, running a random forest model on song virality resulted in an </a:t>
            </a:r>
            <a:r>
              <a:rPr lang="en" sz="1800" b="1">
                <a:latin typeface="Lato"/>
                <a:ea typeface="Lato"/>
                <a:cs typeface="Lato"/>
                <a:sym typeface="Lato"/>
              </a:rPr>
              <a:t>AUC of 0.756 and F1 of 0.62</a:t>
            </a:r>
            <a:r>
              <a:rPr lang="en" sz="1800"/>
              <a:t>, promising indicators of model success. Proposed recommendations and solutions based on the project results include collaborating with </a:t>
            </a:r>
            <a:r>
              <a:rPr lang="en" sz="1800" b="1">
                <a:latin typeface="Lato"/>
                <a:ea typeface="Lato"/>
                <a:cs typeface="Lato"/>
                <a:sym typeface="Lato"/>
              </a:rPr>
              <a:t>experienced artists</a:t>
            </a:r>
            <a:r>
              <a:rPr lang="en" sz="1800"/>
              <a:t>, producing songs of most </a:t>
            </a:r>
            <a:r>
              <a:rPr lang="en" sz="1800" b="1">
                <a:latin typeface="Lato"/>
                <a:ea typeface="Lato"/>
                <a:cs typeface="Lato"/>
                <a:sym typeface="Lato"/>
              </a:rPr>
              <a:t>popular genres </a:t>
            </a:r>
            <a:r>
              <a:rPr lang="en" sz="1800"/>
              <a:t>(pop, reggae), and increasing </a:t>
            </a:r>
            <a:r>
              <a:rPr lang="en" sz="1800" b="1">
                <a:latin typeface="Lato"/>
                <a:ea typeface="Lato"/>
                <a:cs typeface="Lato"/>
                <a:sym typeface="Lato"/>
              </a:rPr>
              <a:t>volume</a:t>
            </a:r>
            <a:r>
              <a:rPr lang="en" sz="1800"/>
              <a:t>, </a:t>
            </a:r>
            <a:r>
              <a:rPr lang="en" sz="1800" b="1">
                <a:latin typeface="Lato"/>
                <a:ea typeface="Lato"/>
                <a:cs typeface="Lato"/>
                <a:sym typeface="Lato"/>
              </a:rPr>
              <a:t>beat</a:t>
            </a:r>
            <a:r>
              <a:rPr lang="en" sz="1800"/>
              <a:t>, and </a:t>
            </a:r>
            <a:r>
              <a:rPr lang="en" sz="1800" b="1">
                <a:latin typeface="Lato"/>
                <a:ea typeface="Lato"/>
                <a:cs typeface="Lato"/>
                <a:sym typeface="Lato"/>
              </a:rPr>
              <a:t>repetitiveness</a:t>
            </a:r>
            <a:r>
              <a:rPr lang="en" sz="1800"/>
              <a:t>.</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1"/>
          <p:cNvSpPr txBox="1">
            <a:spLocks noGrp="1"/>
          </p:cNvSpPr>
          <p:nvPr>
            <p:ph type="ctrTitle"/>
          </p:nvPr>
        </p:nvSpPr>
        <p:spPr>
          <a:xfrm>
            <a:off x="1143000" y="1963600"/>
            <a:ext cx="6858000" cy="11262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4500" b="1"/>
              <a:t>Introduction</a:t>
            </a:r>
            <a:endParaRPr sz="4500" b="1"/>
          </a:p>
        </p:txBody>
      </p:sp>
      <p:cxnSp>
        <p:nvCxnSpPr>
          <p:cNvPr id="77" name="Google Shape;77;p11"/>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78" name="Google Shape;78;p11"/>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Why do songs go viral?</a:t>
            </a:r>
            <a:endParaRPr/>
          </a:p>
        </p:txBody>
      </p:sp>
      <p:sp>
        <p:nvSpPr>
          <p:cNvPr id="84" name="Google Shape;84;p12"/>
          <p:cNvSpPr txBox="1">
            <a:spLocks noGrp="1"/>
          </p:cNvSpPr>
          <p:nvPr>
            <p:ph type="body" idx="1"/>
          </p:nvPr>
        </p:nvSpPr>
        <p:spPr>
          <a:xfrm>
            <a:off x="1359878" y="1369219"/>
            <a:ext cx="7155600" cy="3263400"/>
          </a:xfrm>
          <a:prstGeom prst="rect">
            <a:avLst/>
          </a:prstGeom>
        </p:spPr>
        <p:txBody>
          <a:bodyPr spcFirstLastPara="1" wrap="square" lIns="68575" tIns="34275" rIns="68575" bIns="34275" anchor="t" anchorCtr="0">
            <a:noAutofit/>
          </a:bodyPr>
          <a:lstStyle/>
          <a:p>
            <a:pPr marL="457200" lvl="0" indent="-342900" algn="l" rtl="0">
              <a:lnSpc>
                <a:spcPct val="150000"/>
              </a:lnSpc>
              <a:spcBef>
                <a:spcPts val="800"/>
              </a:spcBef>
              <a:spcAft>
                <a:spcPts val="0"/>
              </a:spcAft>
              <a:buSzPts val="1800"/>
              <a:buChar char="●"/>
            </a:pPr>
            <a:r>
              <a:rPr lang="en" sz="1800"/>
              <a:t>Artists constantly look for unique ways to create viral music</a:t>
            </a:r>
            <a:endParaRPr sz="1800"/>
          </a:p>
          <a:p>
            <a:pPr marL="457200" lvl="0" indent="-342900" algn="l" rtl="0">
              <a:lnSpc>
                <a:spcPct val="150000"/>
              </a:lnSpc>
              <a:spcBef>
                <a:spcPts val="0"/>
              </a:spcBef>
              <a:spcAft>
                <a:spcPts val="0"/>
              </a:spcAft>
              <a:buSzPts val="1800"/>
              <a:buChar char="●"/>
            </a:pPr>
            <a:r>
              <a:rPr lang="en" sz="1800"/>
              <a:t>Any number of attributes could play a part in </a:t>
            </a:r>
            <a:r>
              <a:rPr lang="en" sz="1800" b="1">
                <a:latin typeface="Lato"/>
                <a:ea typeface="Lato"/>
                <a:cs typeface="Lato"/>
                <a:sym typeface="Lato"/>
              </a:rPr>
              <a:t>making a song a “hit”</a:t>
            </a:r>
            <a:endParaRPr sz="1800" b="1">
              <a:latin typeface="Lato"/>
              <a:ea typeface="Lato"/>
              <a:cs typeface="Lato"/>
              <a:sym typeface="Lato"/>
            </a:endParaRPr>
          </a:p>
          <a:p>
            <a:pPr marL="914400" lvl="1" indent="-342900" algn="l" rtl="0">
              <a:lnSpc>
                <a:spcPct val="150000"/>
              </a:lnSpc>
              <a:spcBef>
                <a:spcPts val="0"/>
              </a:spcBef>
              <a:spcAft>
                <a:spcPts val="0"/>
              </a:spcAft>
              <a:buSzPts val="1800"/>
              <a:buChar char="○"/>
            </a:pPr>
            <a:r>
              <a:rPr lang="en"/>
              <a:t>Tempo, Key, Sentiment, Beat, Social Media Algorithms, etc.</a:t>
            </a:r>
            <a:endParaRPr/>
          </a:p>
          <a:p>
            <a:pPr marL="457200" lvl="0" indent="-342900" algn="l" rtl="0">
              <a:lnSpc>
                <a:spcPct val="150000"/>
              </a:lnSpc>
              <a:spcBef>
                <a:spcPts val="0"/>
              </a:spcBef>
              <a:spcAft>
                <a:spcPts val="0"/>
              </a:spcAft>
              <a:buSzPts val="1800"/>
              <a:buChar char="●"/>
            </a:pPr>
            <a:r>
              <a:rPr lang="en" sz="1800"/>
              <a:t>This information will </a:t>
            </a:r>
            <a:r>
              <a:rPr lang="en" sz="1800" b="1">
                <a:latin typeface="Lato"/>
                <a:ea typeface="Lato"/>
                <a:cs typeface="Lato"/>
                <a:sym typeface="Lato"/>
              </a:rPr>
              <a:t>benefit producers </a:t>
            </a:r>
            <a:r>
              <a:rPr lang="en" sz="1800" b="1" i="1">
                <a:latin typeface="Lato"/>
                <a:ea typeface="Lato"/>
                <a:cs typeface="Lato"/>
                <a:sym typeface="Lato"/>
              </a:rPr>
              <a:t>and </a:t>
            </a:r>
            <a:r>
              <a:rPr lang="en" sz="1800" b="1">
                <a:latin typeface="Lato"/>
                <a:ea typeface="Lato"/>
                <a:cs typeface="Lato"/>
                <a:sym typeface="Lato"/>
              </a:rPr>
              <a:t>artists</a:t>
            </a:r>
            <a:r>
              <a:rPr lang="en" sz="1800"/>
              <a:t> </a:t>
            </a:r>
            <a:endParaRPr sz="1800"/>
          </a:p>
          <a:p>
            <a:pPr marL="914400" lvl="1" indent="-342900" algn="l" rtl="0">
              <a:lnSpc>
                <a:spcPct val="150000"/>
              </a:lnSpc>
              <a:spcBef>
                <a:spcPts val="0"/>
              </a:spcBef>
              <a:spcAft>
                <a:spcPts val="0"/>
              </a:spcAft>
              <a:buSzPts val="1800"/>
              <a:buChar char="○"/>
            </a:pPr>
            <a:r>
              <a:rPr lang="en"/>
              <a:t>Assist in choosing artists &amp; songs that reach production</a:t>
            </a:r>
            <a:endParaRPr/>
          </a:p>
          <a:p>
            <a:pPr marL="914400" lvl="1" indent="-342900" algn="l" rtl="0">
              <a:lnSpc>
                <a:spcPct val="150000"/>
              </a:lnSpc>
              <a:spcBef>
                <a:spcPts val="0"/>
              </a:spcBef>
              <a:spcAft>
                <a:spcPts val="0"/>
              </a:spcAft>
              <a:buSzPts val="1800"/>
              <a:buChar char="○"/>
            </a:pPr>
            <a:r>
              <a:rPr lang="en"/>
              <a:t>Support creative decisions in production </a:t>
            </a:r>
            <a:endParaRPr/>
          </a:p>
          <a:p>
            <a:pPr marL="0" lvl="0" indent="0" algn="l" rtl="0">
              <a:lnSpc>
                <a:spcPct val="80000"/>
              </a:lnSpc>
              <a:spcBef>
                <a:spcPts val="800"/>
              </a:spcBef>
              <a:spcAft>
                <a:spcPts val="0"/>
              </a:spcAft>
              <a:buNone/>
            </a:pP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3"/>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Value in Analytics</a:t>
            </a:r>
            <a:endParaRPr/>
          </a:p>
        </p:txBody>
      </p:sp>
      <p:sp>
        <p:nvSpPr>
          <p:cNvPr id="90" name="Google Shape;90;p13"/>
          <p:cNvSpPr/>
          <p:nvPr/>
        </p:nvSpPr>
        <p:spPr>
          <a:xfrm>
            <a:off x="1172925" y="2263200"/>
            <a:ext cx="2413500" cy="5058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a:solidFill>
                  <a:schemeClr val="lt1"/>
                </a:solidFill>
                <a:latin typeface="Lato Light"/>
                <a:ea typeface="Lato Light"/>
                <a:cs typeface="Lato Light"/>
                <a:sym typeface="Lato Light"/>
              </a:rPr>
              <a:t>Spotify Audio Features</a:t>
            </a:r>
            <a:endParaRPr sz="1600">
              <a:solidFill>
                <a:schemeClr val="lt1"/>
              </a:solidFill>
              <a:latin typeface="Lato Light"/>
              <a:ea typeface="Lato Light"/>
              <a:cs typeface="Lato Light"/>
              <a:sym typeface="Lato Light"/>
            </a:endParaRPr>
          </a:p>
        </p:txBody>
      </p:sp>
      <p:sp>
        <p:nvSpPr>
          <p:cNvPr id="91" name="Google Shape;91;p13"/>
          <p:cNvSpPr/>
          <p:nvPr/>
        </p:nvSpPr>
        <p:spPr>
          <a:xfrm>
            <a:off x="1172925" y="1430375"/>
            <a:ext cx="7593900" cy="670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2000">
                <a:solidFill>
                  <a:schemeClr val="lt1"/>
                </a:solidFill>
                <a:latin typeface="Lato Light"/>
                <a:ea typeface="Lato Light"/>
                <a:cs typeface="Lato Light"/>
                <a:sym typeface="Lato Light"/>
              </a:rPr>
              <a:t>Predicting </a:t>
            </a:r>
            <a:r>
              <a:rPr lang="en" sz="2000" b="1">
                <a:solidFill>
                  <a:schemeClr val="lt1"/>
                </a:solidFill>
                <a:latin typeface="Lato"/>
                <a:ea typeface="Lato"/>
                <a:cs typeface="Lato"/>
                <a:sym typeface="Lato"/>
              </a:rPr>
              <a:t>Youtube video view count for a song</a:t>
            </a:r>
            <a:r>
              <a:rPr lang="en" sz="2000">
                <a:solidFill>
                  <a:schemeClr val="lt1"/>
                </a:solidFill>
                <a:latin typeface="Lato Light"/>
                <a:ea typeface="Lato Light"/>
                <a:cs typeface="Lato Light"/>
                <a:sym typeface="Lato Light"/>
              </a:rPr>
              <a:t> (in English) </a:t>
            </a:r>
            <a:endParaRPr sz="2000">
              <a:solidFill>
                <a:schemeClr val="lt1"/>
              </a:solidFill>
              <a:latin typeface="Lato Light"/>
              <a:ea typeface="Lato Light"/>
              <a:cs typeface="Lato Light"/>
              <a:sym typeface="Lato Light"/>
            </a:endParaRPr>
          </a:p>
        </p:txBody>
      </p:sp>
      <p:sp>
        <p:nvSpPr>
          <p:cNvPr id="92" name="Google Shape;92;p13"/>
          <p:cNvSpPr/>
          <p:nvPr/>
        </p:nvSpPr>
        <p:spPr>
          <a:xfrm>
            <a:off x="3763125" y="2263200"/>
            <a:ext cx="2413500" cy="5058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a:solidFill>
                  <a:schemeClr val="lt1"/>
                </a:solidFill>
                <a:latin typeface="Lato Light"/>
                <a:ea typeface="Lato Light"/>
                <a:cs typeface="Lato Light"/>
                <a:sym typeface="Lato Light"/>
              </a:rPr>
              <a:t>Lyrical Sentiment/Topics</a:t>
            </a:r>
            <a:endParaRPr sz="1600">
              <a:solidFill>
                <a:schemeClr val="lt1"/>
              </a:solidFill>
              <a:latin typeface="Lato Light"/>
              <a:ea typeface="Lato Light"/>
              <a:cs typeface="Lato Light"/>
              <a:sym typeface="Lato Light"/>
            </a:endParaRPr>
          </a:p>
        </p:txBody>
      </p:sp>
      <p:sp>
        <p:nvSpPr>
          <p:cNvPr id="93" name="Google Shape;93;p13"/>
          <p:cNvSpPr/>
          <p:nvPr/>
        </p:nvSpPr>
        <p:spPr>
          <a:xfrm>
            <a:off x="6353325" y="2263200"/>
            <a:ext cx="2413500" cy="5058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a:solidFill>
                  <a:schemeClr val="lt1"/>
                </a:solidFill>
                <a:latin typeface="Lato Light"/>
                <a:ea typeface="Lato Light"/>
                <a:cs typeface="Lato Light"/>
                <a:sym typeface="Lato Light"/>
              </a:rPr>
              <a:t>Artist Attributes</a:t>
            </a:r>
            <a:endParaRPr sz="1600">
              <a:solidFill>
                <a:schemeClr val="lt1"/>
              </a:solidFill>
              <a:latin typeface="Lato Light"/>
              <a:ea typeface="Lato Light"/>
              <a:cs typeface="Lato Light"/>
              <a:sym typeface="Lato Light"/>
            </a:endParaRPr>
          </a:p>
        </p:txBody>
      </p:sp>
      <p:sp>
        <p:nvSpPr>
          <p:cNvPr id="94" name="Google Shape;94;p13"/>
          <p:cNvSpPr/>
          <p:nvPr/>
        </p:nvSpPr>
        <p:spPr>
          <a:xfrm>
            <a:off x="1172925" y="2992925"/>
            <a:ext cx="7593900" cy="670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2000">
                <a:solidFill>
                  <a:schemeClr val="lt1"/>
                </a:solidFill>
                <a:latin typeface="Lato Light"/>
                <a:ea typeface="Lato Light"/>
                <a:cs typeface="Lato Light"/>
                <a:sym typeface="Lato Light"/>
              </a:rPr>
              <a:t>Using both </a:t>
            </a:r>
            <a:r>
              <a:rPr lang="en" sz="2000" b="1">
                <a:solidFill>
                  <a:schemeClr val="lt1"/>
                </a:solidFill>
                <a:latin typeface="Lato"/>
                <a:ea typeface="Lato"/>
                <a:cs typeface="Lato"/>
                <a:sym typeface="Lato"/>
              </a:rPr>
              <a:t>Classification &amp; Regression</a:t>
            </a:r>
            <a:r>
              <a:rPr lang="en" sz="2000">
                <a:solidFill>
                  <a:schemeClr val="lt1"/>
                </a:solidFill>
                <a:latin typeface="Lato Light"/>
                <a:ea typeface="Lato Light"/>
                <a:cs typeface="Lato Light"/>
                <a:sym typeface="Lato Light"/>
              </a:rPr>
              <a:t> Modeling</a:t>
            </a:r>
            <a:endParaRPr sz="2000">
              <a:solidFill>
                <a:schemeClr val="lt1"/>
              </a:solidFill>
              <a:latin typeface="Lato Light"/>
              <a:ea typeface="Lato Light"/>
              <a:cs typeface="Lato Light"/>
              <a:sym typeface="Lato Light"/>
            </a:endParaRPr>
          </a:p>
        </p:txBody>
      </p:sp>
      <p:sp>
        <p:nvSpPr>
          <p:cNvPr id="95" name="Google Shape;95;p13"/>
          <p:cNvSpPr/>
          <p:nvPr/>
        </p:nvSpPr>
        <p:spPr>
          <a:xfrm>
            <a:off x="1172925" y="3887350"/>
            <a:ext cx="7593900" cy="670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2000">
                <a:solidFill>
                  <a:schemeClr val="lt1"/>
                </a:solidFill>
                <a:latin typeface="Lato Light"/>
                <a:ea typeface="Lato Light"/>
                <a:cs typeface="Lato Light"/>
                <a:sym typeface="Lato Light"/>
              </a:rPr>
              <a:t>Leading to the </a:t>
            </a:r>
            <a:r>
              <a:rPr lang="en" sz="2000" b="1">
                <a:solidFill>
                  <a:schemeClr val="lt1"/>
                </a:solidFill>
                <a:latin typeface="Lato"/>
                <a:ea typeface="Lato"/>
                <a:cs typeface="Lato"/>
                <a:sym typeface="Lato"/>
              </a:rPr>
              <a:t>Creation of Hit Songs</a:t>
            </a:r>
            <a:endParaRPr sz="2000" b="1">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Outcome</a:t>
            </a:r>
            <a:endParaRPr/>
          </a:p>
        </p:txBody>
      </p:sp>
      <p:sp>
        <p:nvSpPr>
          <p:cNvPr id="101" name="Google Shape;101;p14"/>
          <p:cNvSpPr/>
          <p:nvPr/>
        </p:nvSpPr>
        <p:spPr>
          <a:xfrm>
            <a:off x="1192275" y="2571750"/>
            <a:ext cx="3674400" cy="994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80000"/>
              </a:lnSpc>
              <a:spcBef>
                <a:spcPts val="800"/>
              </a:spcBef>
              <a:spcAft>
                <a:spcPts val="0"/>
              </a:spcAft>
              <a:buNone/>
            </a:pPr>
            <a:r>
              <a:rPr lang="en" sz="3800" b="1">
                <a:solidFill>
                  <a:schemeClr val="dk1"/>
                </a:solidFill>
                <a:latin typeface="Lato"/>
                <a:ea typeface="Lato"/>
                <a:cs typeface="Lato"/>
                <a:sym typeface="Lato"/>
              </a:rPr>
              <a:t>Accuracy: 65%</a:t>
            </a:r>
            <a:endParaRPr sz="3800" b="1">
              <a:solidFill>
                <a:schemeClr val="dk2"/>
              </a:solidFill>
              <a:latin typeface="Lato"/>
              <a:ea typeface="Lato"/>
              <a:cs typeface="Lato"/>
              <a:sym typeface="Lato"/>
            </a:endParaRPr>
          </a:p>
        </p:txBody>
      </p:sp>
      <p:sp>
        <p:nvSpPr>
          <p:cNvPr id="102" name="Google Shape;102;p14"/>
          <p:cNvSpPr/>
          <p:nvPr/>
        </p:nvSpPr>
        <p:spPr>
          <a:xfrm>
            <a:off x="5008675" y="2571750"/>
            <a:ext cx="3674400" cy="994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80000"/>
              </a:lnSpc>
              <a:spcBef>
                <a:spcPts val="800"/>
              </a:spcBef>
              <a:spcAft>
                <a:spcPts val="0"/>
              </a:spcAft>
              <a:buNone/>
            </a:pPr>
            <a:r>
              <a:rPr lang="en" sz="3800" b="1">
                <a:solidFill>
                  <a:schemeClr val="dk1"/>
                </a:solidFill>
                <a:latin typeface="Lato"/>
                <a:ea typeface="Lato"/>
                <a:cs typeface="Lato"/>
                <a:sym typeface="Lato"/>
              </a:rPr>
              <a:t>F1: 0.62</a:t>
            </a:r>
            <a:endParaRPr sz="3800" b="1">
              <a:solidFill>
                <a:schemeClr val="dk2"/>
              </a:solidFill>
              <a:latin typeface="Lato"/>
              <a:ea typeface="Lato"/>
              <a:cs typeface="Lato"/>
              <a:sym typeface="Lato"/>
            </a:endParaRPr>
          </a:p>
        </p:txBody>
      </p:sp>
      <p:sp>
        <p:nvSpPr>
          <p:cNvPr id="103" name="Google Shape;103;p14"/>
          <p:cNvSpPr/>
          <p:nvPr/>
        </p:nvSpPr>
        <p:spPr>
          <a:xfrm>
            <a:off x="1172925" y="1430375"/>
            <a:ext cx="7593900" cy="9942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3000" b="1">
                <a:solidFill>
                  <a:schemeClr val="lt1"/>
                </a:solidFill>
                <a:latin typeface="Lato"/>
                <a:ea typeface="Lato"/>
                <a:cs typeface="Lato"/>
                <a:sym typeface="Lato"/>
              </a:rPr>
              <a:t>Classification: Random Forest</a:t>
            </a:r>
            <a:endParaRPr sz="3000" b="1">
              <a:solidFill>
                <a:schemeClr val="lt1"/>
              </a:solidFill>
              <a:latin typeface="Lato"/>
              <a:ea typeface="Lato"/>
              <a:cs typeface="Lato"/>
              <a:sym typeface="Lato"/>
            </a:endParaRPr>
          </a:p>
        </p:txBody>
      </p:sp>
      <p:sp>
        <p:nvSpPr>
          <p:cNvPr id="104" name="Google Shape;104;p14"/>
          <p:cNvSpPr/>
          <p:nvPr/>
        </p:nvSpPr>
        <p:spPr>
          <a:xfrm>
            <a:off x="1192275" y="3713125"/>
            <a:ext cx="3674400" cy="994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80000"/>
              </a:lnSpc>
              <a:spcBef>
                <a:spcPts val="800"/>
              </a:spcBef>
              <a:spcAft>
                <a:spcPts val="0"/>
              </a:spcAft>
              <a:buNone/>
            </a:pPr>
            <a:r>
              <a:rPr lang="en" sz="3800" b="1">
                <a:solidFill>
                  <a:schemeClr val="dk1"/>
                </a:solidFill>
                <a:latin typeface="Lato"/>
                <a:ea typeface="Lato"/>
                <a:cs typeface="Lato"/>
                <a:sym typeface="Lato"/>
              </a:rPr>
              <a:t>AUC: 0.756</a:t>
            </a:r>
            <a:endParaRPr sz="3800" b="1">
              <a:solidFill>
                <a:schemeClr val="dk2"/>
              </a:solidFill>
              <a:latin typeface="Lato"/>
              <a:ea typeface="Lato"/>
              <a:cs typeface="Lato"/>
              <a:sym typeface="Lato"/>
            </a:endParaRPr>
          </a:p>
        </p:txBody>
      </p:sp>
      <p:sp>
        <p:nvSpPr>
          <p:cNvPr id="105" name="Google Shape;105;p14"/>
          <p:cNvSpPr/>
          <p:nvPr/>
        </p:nvSpPr>
        <p:spPr>
          <a:xfrm>
            <a:off x="5008675" y="3713125"/>
            <a:ext cx="3674400" cy="994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80000"/>
              </a:lnSpc>
              <a:spcBef>
                <a:spcPts val="800"/>
              </a:spcBef>
              <a:spcAft>
                <a:spcPts val="0"/>
              </a:spcAft>
              <a:buNone/>
            </a:pPr>
            <a:r>
              <a:rPr lang="en" sz="3800" b="1">
                <a:solidFill>
                  <a:schemeClr val="dk1"/>
                </a:solidFill>
                <a:latin typeface="Lato"/>
                <a:ea typeface="Lato"/>
                <a:cs typeface="Lato"/>
                <a:sym typeface="Lato"/>
              </a:rPr>
              <a:t>Threshold: 0.31</a:t>
            </a:r>
            <a:endParaRPr sz="1500" b="1">
              <a:solidFill>
                <a:schemeClr val="dk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ctrTitle"/>
          </p:nvPr>
        </p:nvSpPr>
        <p:spPr>
          <a:xfrm>
            <a:off x="1143000" y="2216803"/>
            <a:ext cx="6858000" cy="1126200"/>
          </a:xfrm>
          <a:prstGeom prst="rect">
            <a:avLst/>
          </a:prstGeom>
        </p:spPr>
        <p:txBody>
          <a:bodyPr spcFirstLastPara="1" wrap="square" lIns="68575" tIns="34275" rIns="68575" bIns="34275" anchor="b" anchorCtr="0">
            <a:normAutofit fontScale="90000"/>
          </a:bodyPr>
          <a:lstStyle/>
          <a:p>
            <a:pPr marL="0" lvl="0" indent="0" algn="ctr" rtl="0">
              <a:spcBef>
                <a:spcPts val="0"/>
              </a:spcBef>
              <a:spcAft>
                <a:spcPts val="0"/>
              </a:spcAft>
              <a:buNone/>
            </a:pPr>
            <a:r>
              <a:rPr lang="en" sz="4500" b="1"/>
              <a:t>Data Collection, Preparation &amp; Analysis</a:t>
            </a:r>
            <a:endParaRPr sz="4500" b="1"/>
          </a:p>
        </p:txBody>
      </p:sp>
      <p:cxnSp>
        <p:nvCxnSpPr>
          <p:cNvPr id="111" name="Google Shape;111;p15"/>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112" name="Google Shape;112;p15"/>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628650" y="2074644"/>
            <a:ext cx="7886700" cy="99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t>Data Collection</a:t>
            </a:r>
            <a:endParaRPr sz="4500" b="1"/>
          </a:p>
        </p:txBody>
      </p:sp>
      <p:cxnSp>
        <p:nvCxnSpPr>
          <p:cNvPr id="118" name="Google Shape;118;p16"/>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119" name="Google Shape;119;p16"/>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1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What Data do we need?</a:t>
            </a:r>
            <a:endParaRPr/>
          </a:p>
        </p:txBody>
      </p:sp>
      <p:sp>
        <p:nvSpPr>
          <p:cNvPr id="125" name="Google Shape;125;p17"/>
          <p:cNvSpPr txBox="1">
            <a:spLocks noGrp="1"/>
          </p:cNvSpPr>
          <p:nvPr>
            <p:ph type="body" idx="4294967295"/>
          </p:nvPr>
        </p:nvSpPr>
        <p:spPr>
          <a:xfrm>
            <a:off x="1359878" y="1369219"/>
            <a:ext cx="7155600" cy="3263400"/>
          </a:xfrm>
          <a:prstGeom prst="rect">
            <a:avLst/>
          </a:prstGeom>
        </p:spPr>
        <p:txBody>
          <a:bodyPr spcFirstLastPara="1" wrap="square" lIns="68575" tIns="34275" rIns="68575" bIns="34275" anchor="t" anchorCtr="0">
            <a:noAutofit/>
          </a:bodyPr>
          <a:lstStyle/>
          <a:p>
            <a:pPr marL="457200" lvl="0" indent="-336550" algn="l" rtl="0">
              <a:lnSpc>
                <a:spcPct val="115000"/>
              </a:lnSpc>
              <a:spcBef>
                <a:spcPts val="800"/>
              </a:spcBef>
              <a:spcAft>
                <a:spcPts val="0"/>
              </a:spcAft>
              <a:buSzPts val="1700"/>
              <a:buChar char="●"/>
            </a:pPr>
            <a:r>
              <a:rPr lang="en" sz="1700"/>
              <a:t>Unique combinations of titles and artists for known songs</a:t>
            </a:r>
            <a:endParaRPr sz="1700"/>
          </a:p>
          <a:p>
            <a:pPr marL="457200" lvl="0" indent="-336550" algn="l" rtl="0">
              <a:lnSpc>
                <a:spcPct val="115000"/>
              </a:lnSpc>
              <a:spcBef>
                <a:spcPts val="0"/>
              </a:spcBef>
              <a:spcAft>
                <a:spcPts val="0"/>
              </a:spcAft>
              <a:buSzPts val="1700"/>
              <a:buChar char="●"/>
            </a:pPr>
            <a:r>
              <a:rPr lang="en" sz="1700"/>
              <a:t>Lyrical data for text mining analysis</a:t>
            </a:r>
            <a:endParaRPr sz="1700"/>
          </a:p>
          <a:p>
            <a:pPr marL="914400" lvl="1" indent="-336550" algn="l" rtl="0">
              <a:lnSpc>
                <a:spcPct val="115000"/>
              </a:lnSpc>
              <a:spcBef>
                <a:spcPts val="0"/>
              </a:spcBef>
              <a:spcAft>
                <a:spcPts val="0"/>
              </a:spcAft>
              <a:buSzPts val="1700"/>
              <a:buChar char="○"/>
            </a:pPr>
            <a:r>
              <a:rPr lang="en" sz="1700"/>
              <a:t>Seek to draw predictive power from words</a:t>
            </a:r>
            <a:endParaRPr sz="1700"/>
          </a:p>
          <a:p>
            <a:pPr marL="914400" lvl="1" indent="-336550" algn="l" rtl="0">
              <a:lnSpc>
                <a:spcPct val="115000"/>
              </a:lnSpc>
              <a:spcBef>
                <a:spcPts val="0"/>
              </a:spcBef>
              <a:spcAft>
                <a:spcPts val="0"/>
              </a:spcAft>
              <a:buSzPts val="1700"/>
              <a:buChar char="○"/>
            </a:pPr>
            <a:r>
              <a:rPr lang="en" sz="1700"/>
              <a:t>Previous studies/models have not considered lyrical, unstructured data</a:t>
            </a:r>
            <a:endParaRPr sz="1700"/>
          </a:p>
          <a:p>
            <a:pPr marL="457200" lvl="0" indent="-336550" algn="l" rtl="0">
              <a:lnSpc>
                <a:spcPct val="115000"/>
              </a:lnSpc>
              <a:spcBef>
                <a:spcPts val="0"/>
              </a:spcBef>
              <a:spcAft>
                <a:spcPts val="0"/>
              </a:spcAft>
              <a:buSzPts val="1700"/>
              <a:buChar char="●"/>
            </a:pPr>
            <a:r>
              <a:rPr lang="en" sz="1700"/>
              <a:t>Artist history and industry nature at the time of release</a:t>
            </a:r>
            <a:endParaRPr sz="1700"/>
          </a:p>
          <a:p>
            <a:pPr marL="457200" lvl="0" indent="-336550" algn="l" rtl="0">
              <a:lnSpc>
                <a:spcPct val="115000"/>
              </a:lnSpc>
              <a:spcBef>
                <a:spcPts val="0"/>
              </a:spcBef>
              <a:spcAft>
                <a:spcPts val="0"/>
              </a:spcAft>
              <a:buSzPts val="1700"/>
              <a:buChar char="●"/>
            </a:pPr>
            <a:r>
              <a:rPr lang="en" sz="1700"/>
              <a:t>YouTube popularity metrics</a:t>
            </a:r>
            <a:endParaRPr sz="1700"/>
          </a:p>
          <a:p>
            <a:pPr marL="914400" lvl="1" indent="-336550" algn="l" rtl="0">
              <a:lnSpc>
                <a:spcPct val="115000"/>
              </a:lnSpc>
              <a:spcBef>
                <a:spcPts val="0"/>
              </a:spcBef>
              <a:spcAft>
                <a:spcPts val="0"/>
              </a:spcAft>
              <a:buSzPts val="1700"/>
              <a:buChar char="○"/>
            </a:pPr>
            <a:r>
              <a:rPr lang="en" sz="1700"/>
              <a:t>Unique avenue / platform for song popularity prediction</a:t>
            </a:r>
            <a:endParaRPr sz="1700"/>
          </a:p>
          <a:p>
            <a:pPr marL="914400" lvl="1" indent="-336550" algn="l" rtl="0">
              <a:lnSpc>
                <a:spcPct val="115000"/>
              </a:lnSpc>
              <a:spcBef>
                <a:spcPts val="0"/>
              </a:spcBef>
              <a:spcAft>
                <a:spcPts val="0"/>
              </a:spcAft>
              <a:buSzPts val="1700"/>
              <a:buChar char="○"/>
            </a:pPr>
            <a:r>
              <a:rPr lang="en" sz="1700"/>
              <a:t>Previous studies/models focus on music-centered platform</a:t>
            </a:r>
            <a:endParaRPr sz="1700"/>
          </a:p>
          <a:p>
            <a:pPr marL="457200" lvl="0" indent="-336550" algn="l" rtl="0">
              <a:lnSpc>
                <a:spcPct val="115000"/>
              </a:lnSpc>
              <a:spcBef>
                <a:spcPts val="0"/>
              </a:spcBef>
              <a:spcAft>
                <a:spcPts val="0"/>
              </a:spcAft>
              <a:buSzPts val="1700"/>
              <a:buChar char="●"/>
            </a:pPr>
            <a:r>
              <a:rPr lang="en" sz="1700"/>
              <a:t>Audio features</a:t>
            </a:r>
            <a:endParaRPr sz="1700"/>
          </a:p>
          <a:p>
            <a:pPr marL="914400" lvl="1" indent="-336550" algn="l" rtl="0">
              <a:lnSpc>
                <a:spcPct val="115000"/>
              </a:lnSpc>
              <a:spcBef>
                <a:spcPts val="0"/>
              </a:spcBef>
              <a:spcAft>
                <a:spcPts val="0"/>
              </a:spcAft>
              <a:buSzPts val="1700"/>
              <a:buChar char="○"/>
            </a:pPr>
            <a:r>
              <a:rPr lang="en" sz="1700"/>
              <a:t>Incorporates song facts and listener preference into analysis</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1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Sources</a:t>
            </a:r>
            <a:endParaRPr/>
          </a:p>
        </p:txBody>
      </p:sp>
      <p:sp>
        <p:nvSpPr>
          <p:cNvPr id="131" name="Google Shape;131;p18"/>
          <p:cNvSpPr txBox="1">
            <a:spLocks noGrp="1"/>
          </p:cNvSpPr>
          <p:nvPr>
            <p:ph type="body" idx="1"/>
          </p:nvPr>
        </p:nvSpPr>
        <p:spPr>
          <a:xfrm>
            <a:off x="628650" y="1936800"/>
            <a:ext cx="2413500" cy="26958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457200" lvl="0" indent="-342900" algn="l" rtl="0">
              <a:lnSpc>
                <a:spcPct val="100000"/>
              </a:lnSpc>
              <a:spcBef>
                <a:spcPts val="800"/>
              </a:spcBef>
              <a:spcAft>
                <a:spcPts val="0"/>
              </a:spcAft>
              <a:buSzPts val="1800"/>
              <a:buChar char="●"/>
            </a:pPr>
            <a:r>
              <a:rPr lang="en" sz="1700" dirty="0"/>
              <a:t>Web-scraped using BeautifulSoup in Python</a:t>
            </a:r>
            <a:endParaRPr sz="1700" dirty="0"/>
          </a:p>
          <a:p>
            <a:pPr marL="457200" lvl="0" indent="-342900" algn="l" rtl="0">
              <a:lnSpc>
                <a:spcPct val="100000"/>
              </a:lnSpc>
              <a:spcBef>
                <a:spcPts val="0"/>
              </a:spcBef>
              <a:spcAft>
                <a:spcPts val="0"/>
              </a:spcAft>
              <a:buSzPts val="1800"/>
              <a:buChar char="●"/>
            </a:pPr>
            <a:r>
              <a:rPr lang="en" sz="1700" dirty="0"/>
              <a:t>Song titles, artists, chart years</a:t>
            </a:r>
            <a:endParaRPr sz="1700" dirty="0"/>
          </a:p>
          <a:p>
            <a:pPr marL="457200" lvl="0" indent="-342900" algn="l" rtl="0">
              <a:lnSpc>
                <a:spcPct val="100000"/>
              </a:lnSpc>
              <a:spcBef>
                <a:spcPts val="0"/>
              </a:spcBef>
              <a:spcAft>
                <a:spcPts val="0"/>
              </a:spcAft>
              <a:buSzPts val="1800"/>
              <a:buChar char="●"/>
            </a:pPr>
            <a:r>
              <a:rPr lang="en" sz="1700" b="1" dirty="0">
                <a:latin typeface="Lato"/>
                <a:ea typeface="Lato"/>
                <a:cs typeface="Lato"/>
                <a:sym typeface="Lato"/>
              </a:rPr>
              <a:t>18,959 songs </a:t>
            </a:r>
            <a:r>
              <a:rPr lang="en" sz="1700" dirty="0"/>
              <a:t>(unique combos of titles and artists)</a:t>
            </a:r>
            <a:endParaRPr sz="1700" dirty="0"/>
          </a:p>
        </p:txBody>
      </p:sp>
      <p:sp>
        <p:nvSpPr>
          <p:cNvPr id="132" name="Google Shape;132;p18"/>
          <p:cNvSpPr txBox="1">
            <a:spLocks noGrp="1"/>
          </p:cNvSpPr>
          <p:nvPr>
            <p:ph type="body" idx="1"/>
          </p:nvPr>
        </p:nvSpPr>
        <p:spPr>
          <a:xfrm>
            <a:off x="3218850" y="1936800"/>
            <a:ext cx="2413500" cy="26958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457200" lvl="0" indent="-342900" algn="l" rtl="0">
              <a:lnSpc>
                <a:spcPct val="100000"/>
              </a:lnSpc>
              <a:spcBef>
                <a:spcPts val="800"/>
              </a:spcBef>
              <a:spcAft>
                <a:spcPts val="0"/>
              </a:spcAft>
              <a:buSzPts val="1800"/>
              <a:buChar char="●"/>
            </a:pPr>
            <a:r>
              <a:rPr lang="en" sz="1700" dirty="0"/>
              <a:t>Used Lyrics Genius library to pull song lyrics</a:t>
            </a:r>
            <a:endParaRPr sz="1700" dirty="0"/>
          </a:p>
          <a:p>
            <a:pPr marL="457200" lvl="0" indent="-342900" algn="l" rtl="0">
              <a:lnSpc>
                <a:spcPct val="100000"/>
              </a:lnSpc>
              <a:spcBef>
                <a:spcPts val="0"/>
              </a:spcBef>
              <a:spcAft>
                <a:spcPts val="0"/>
              </a:spcAft>
              <a:buSzPts val="1800"/>
              <a:buChar char="●"/>
            </a:pPr>
            <a:r>
              <a:rPr lang="en" sz="1700" dirty="0"/>
              <a:t>Text mining - draw predictive power from words</a:t>
            </a:r>
            <a:endParaRPr sz="1700" dirty="0"/>
          </a:p>
          <a:p>
            <a:pPr marL="457200" lvl="0" indent="-342900" algn="l" rtl="0">
              <a:lnSpc>
                <a:spcPct val="100000"/>
              </a:lnSpc>
              <a:spcBef>
                <a:spcPts val="0"/>
              </a:spcBef>
              <a:spcAft>
                <a:spcPts val="0"/>
              </a:spcAft>
              <a:buSzPts val="1800"/>
              <a:buChar char="●"/>
            </a:pPr>
            <a:r>
              <a:rPr lang="en" sz="1700" b="1" dirty="0">
                <a:latin typeface="Lato"/>
                <a:ea typeface="Lato"/>
                <a:cs typeface="Lato"/>
                <a:sym typeface="Lato"/>
              </a:rPr>
              <a:t>13,873 songs</a:t>
            </a:r>
            <a:r>
              <a:rPr lang="en" sz="1700" dirty="0"/>
              <a:t> with lyrics</a:t>
            </a:r>
            <a:endParaRPr sz="1700" dirty="0"/>
          </a:p>
          <a:p>
            <a:pPr marL="457200" lvl="0" indent="-342900" algn="l" rtl="0">
              <a:lnSpc>
                <a:spcPct val="100000"/>
              </a:lnSpc>
              <a:spcBef>
                <a:spcPts val="0"/>
              </a:spcBef>
              <a:spcAft>
                <a:spcPts val="0"/>
              </a:spcAft>
              <a:buSzPts val="1800"/>
              <a:buChar char="●"/>
            </a:pPr>
            <a:r>
              <a:rPr lang="en" sz="1700" dirty="0"/>
              <a:t>5-hour runtime</a:t>
            </a:r>
            <a:endParaRPr sz="1700" dirty="0"/>
          </a:p>
        </p:txBody>
      </p:sp>
      <p:sp>
        <p:nvSpPr>
          <p:cNvPr id="133" name="Google Shape;133;p18"/>
          <p:cNvSpPr txBox="1">
            <a:spLocks noGrp="1"/>
          </p:cNvSpPr>
          <p:nvPr>
            <p:ph type="body" idx="1"/>
          </p:nvPr>
        </p:nvSpPr>
        <p:spPr>
          <a:xfrm>
            <a:off x="5809050" y="1936800"/>
            <a:ext cx="2413500" cy="26958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457200" lvl="0" indent="-342900" algn="l" rtl="0">
              <a:lnSpc>
                <a:spcPct val="100000"/>
              </a:lnSpc>
              <a:spcBef>
                <a:spcPts val="800"/>
              </a:spcBef>
              <a:spcAft>
                <a:spcPts val="0"/>
              </a:spcAft>
              <a:buSzPts val="1800"/>
              <a:buChar char="●"/>
            </a:pPr>
            <a:r>
              <a:rPr lang="en" sz="1700" dirty="0"/>
              <a:t>Used MusicBrainz library to pull artist-related features</a:t>
            </a:r>
            <a:endParaRPr sz="1700" dirty="0"/>
          </a:p>
          <a:p>
            <a:pPr marL="457200" lvl="0" indent="-342900" algn="l" rtl="0">
              <a:lnSpc>
                <a:spcPct val="100000"/>
              </a:lnSpc>
              <a:spcBef>
                <a:spcPts val="0"/>
              </a:spcBef>
              <a:spcAft>
                <a:spcPts val="0"/>
              </a:spcAft>
              <a:buSzPts val="1800"/>
              <a:buChar char="●"/>
            </a:pPr>
            <a:r>
              <a:rPr lang="en" sz="1700" dirty="0"/>
              <a:t>Name, type, genres, country, etc.</a:t>
            </a:r>
            <a:endParaRPr sz="1700" dirty="0"/>
          </a:p>
          <a:p>
            <a:pPr marL="457200" lvl="0" indent="-342900" algn="l" rtl="0">
              <a:lnSpc>
                <a:spcPct val="100000"/>
              </a:lnSpc>
              <a:spcBef>
                <a:spcPts val="0"/>
              </a:spcBef>
              <a:spcAft>
                <a:spcPts val="0"/>
              </a:spcAft>
              <a:buSzPts val="1800"/>
              <a:buChar char="●"/>
            </a:pPr>
            <a:r>
              <a:rPr lang="en" sz="1700" b="1" dirty="0">
                <a:latin typeface="Lato"/>
                <a:ea typeface="Lato"/>
                <a:cs typeface="Lato"/>
                <a:sym typeface="Lato"/>
              </a:rPr>
              <a:t>4,322</a:t>
            </a:r>
            <a:r>
              <a:rPr lang="en" sz="1700" dirty="0"/>
              <a:t> </a:t>
            </a:r>
            <a:r>
              <a:rPr lang="en" sz="1700" b="1" dirty="0">
                <a:latin typeface="Lato"/>
                <a:ea typeface="Lato"/>
                <a:cs typeface="Lato"/>
                <a:sym typeface="Lato"/>
              </a:rPr>
              <a:t>unique artists</a:t>
            </a:r>
            <a:endParaRPr sz="1700" b="1" dirty="0">
              <a:latin typeface="Lato"/>
              <a:ea typeface="Lato"/>
              <a:cs typeface="Lato"/>
              <a:sym typeface="Lato"/>
            </a:endParaRPr>
          </a:p>
        </p:txBody>
      </p:sp>
      <p:sp>
        <p:nvSpPr>
          <p:cNvPr id="134" name="Google Shape;134;p18"/>
          <p:cNvSpPr/>
          <p:nvPr/>
        </p:nvSpPr>
        <p:spPr>
          <a:xfrm>
            <a:off x="628650" y="1268050"/>
            <a:ext cx="2413500" cy="5058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700" b="1">
                <a:solidFill>
                  <a:schemeClr val="dk2"/>
                </a:solidFill>
                <a:latin typeface="Lato"/>
                <a:ea typeface="Lato"/>
                <a:cs typeface="Lato"/>
                <a:sym typeface="Lato"/>
              </a:rPr>
              <a:t>Billboard.com/charts</a:t>
            </a:r>
            <a:endParaRPr sz="1700" b="1">
              <a:solidFill>
                <a:schemeClr val="dk2"/>
              </a:solidFill>
              <a:latin typeface="Lato"/>
              <a:ea typeface="Lato"/>
              <a:cs typeface="Lato"/>
              <a:sym typeface="Lato"/>
            </a:endParaRPr>
          </a:p>
        </p:txBody>
      </p:sp>
      <p:sp>
        <p:nvSpPr>
          <p:cNvPr id="135" name="Google Shape;135;p18"/>
          <p:cNvSpPr/>
          <p:nvPr/>
        </p:nvSpPr>
        <p:spPr>
          <a:xfrm>
            <a:off x="3218850" y="1268050"/>
            <a:ext cx="2413500" cy="5058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700" b="1">
                <a:solidFill>
                  <a:schemeClr val="dk2"/>
                </a:solidFill>
                <a:latin typeface="Lato"/>
                <a:ea typeface="Lato"/>
                <a:cs typeface="Lato"/>
                <a:sym typeface="Lato"/>
              </a:rPr>
              <a:t>Genius API</a:t>
            </a:r>
            <a:endParaRPr sz="1700" b="1">
              <a:solidFill>
                <a:schemeClr val="dk2"/>
              </a:solidFill>
              <a:latin typeface="Lato"/>
              <a:ea typeface="Lato"/>
              <a:cs typeface="Lato"/>
              <a:sym typeface="Lato"/>
            </a:endParaRPr>
          </a:p>
        </p:txBody>
      </p:sp>
      <p:sp>
        <p:nvSpPr>
          <p:cNvPr id="136" name="Google Shape;136;p18"/>
          <p:cNvSpPr/>
          <p:nvPr/>
        </p:nvSpPr>
        <p:spPr>
          <a:xfrm>
            <a:off x="5809050" y="1268050"/>
            <a:ext cx="2413500" cy="5058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700" b="1">
                <a:solidFill>
                  <a:schemeClr val="dk2"/>
                </a:solidFill>
                <a:latin typeface="Lato"/>
                <a:ea typeface="Lato"/>
                <a:cs typeface="Lato"/>
                <a:sym typeface="Lato"/>
              </a:rPr>
              <a:t>MusicBrainz API</a:t>
            </a:r>
            <a:endParaRPr sz="1700" b="1">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Sources</a:t>
            </a:r>
            <a:endParaRPr/>
          </a:p>
        </p:txBody>
      </p:sp>
      <p:sp>
        <p:nvSpPr>
          <p:cNvPr id="142" name="Google Shape;142;p19"/>
          <p:cNvSpPr txBox="1">
            <a:spLocks noGrp="1"/>
          </p:cNvSpPr>
          <p:nvPr>
            <p:ph type="body" idx="1"/>
          </p:nvPr>
        </p:nvSpPr>
        <p:spPr>
          <a:xfrm>
            <a:off x="682038" y="1913675"/>
            <a:ext cx="3709200" cy="26958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457200" lvl="0" indent="-342900" algn="l" rtl="0">
              <a:lnSpc>
                <a:spcPct val="100000"/>
              </a:lnSpc>
              <a:spcBef>
                <a:spcPts val="800"/>
              </a:spcBef>
              <a:spcAft>
                <a:spcPts val="0"/>
              </a:spcAft>
              <a:buSzPts val="1800"/>
              <a:buChar char="●"/>
            </a:pPr>
            <a:r>
              <a:rPr lang="en" sz="1800"/>
              <a:t>Web-scraped public YouTube metadata used yt-dlp package</a:t>
            </a:r>
            <a:endParaRPr sz="1800"/>
          </a:p>
          <a:p>
            <a:pPr marL="457200" lvl="0" indent="-342900" algn="l" rtl="0">
              <a:lnSpc>
                <a:spcPct val="100000"/>
              </a:lnSpc>
              <a:spcBef>
                <a:spcPts val="0"/>
              </a:spcBef>
              <a:spcAft>
                <a:spcPts val="0"/>
              </a:spcAft>
              <a:buSzPts val="1800"/>
              <a:buChar char="●"/>
            </a:pPr>
            <a:r>
              <a:rPr lang="en" sz="1800"/>
              <a:t>View, like, and comment counts</a:t>
            </a:r>
            <a:endParaRPr sz="1800"/>
          </a:p>
          <a:p>
            <a:pPr marL="457200" lvl="0" indent="-342900" algn="l" rtl="0">
              <a:lnSpc>
                <a:spcPct val="100000"/>
              </a:lnSpc>
              <a:spcBef>
                <a:spcPts val="0"/>
              </a:spcBef>
              <a:spcAft>
                <a:spcPts val="0"/>
              </a:spcAft>
              <a:buSzPts val="1800"/>
              <a:buChar char="●"/>
            </a:pPr>
            <a:r>
              <a:rPr lang="en" sz="1800" b="1">
                <a:latin typeface="Lato"/>
                <a:ea typeface="Lato"/>
                <a:cs typeface="Lato"/>
                <a:sym typeface="Lato"/>
              </a:rPr>
              <a:t>15,002 songs</a:t>
            </a:r>
            <a:r>
              <a:rPr lang="en" sz="1800"/>
              <a:t> with metrics</a:t>
            </a:r>
            <a:endParaRPr sz="1800"/>
          </a:p>
          <a:p>
            <a:pPr marL="457200" lvl="0" indent="-342900" algn="l" rtl="0">
              <a:lnSpc>
                <a:spcPct val="100000"/>
              </a:lnSpc>
              <a:spcBef>
                <a:spcPts val="0"/>
              </a:spcBef>
              <a:spcAft>
                <a:spcPts val="0"/>
              </a:spcAft>
              <a:buSzPts val="1800"/>
              <a:buChar char="●"/>
            </a:pPr>
            <a:r>
              <a:rPr lang="en" sz="1800"/>
              <a:t>11-hour runtime</a:t>
            </a:r>
            <a:endParaRPr sz="1800"/>
          </a:p>
        </p:txBody>
      </p:sp>
      <p:sp>
        <p:nvSpPr>
          <p:cNvPr id="143" name="Google Shape;143;p19"/>
          <p:cNvSpPr txBox="1">
            <a:spLocks noGrp="1"/>
          </p:cNvSpPr>
          <p:nvPr>
            <p:ph type="body" idx="1"/>
          </p:nvPr>
        </p:nvSpPr>
        <p:spPr>
          <a:xfrm>
            <a:off x="4752763" y="1913675"/>
            <a:ext cx="3709200" cy="26958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457200" lvl="0" indent="-342900" algn="l" rtl="0">
              <a:lnSpc>
                <a:spcPct val="100000"/>
              </a:lnSpc>
              <a:spcBef>
                <a:spcPts val="800"/>
              </a:spcBef>
              <a:spcAft>
                <a:spcPts val="0"/>
              </a:spcAft>
              <a:buSzPts val="1800"/>
              <a:buChar char="●"/>
            </a:pPr>
            <a:r>
              <a:rPr lang="en" sz="1800"/>
              <a:t>Merged 6 comprehensive Kaggle datasets with Spotify song audio features</a:t>
            </a:r>
            <a:endParaRPr sz="1800"/>
          </a:p>
          <a:p>
            <a:pPr marL="457200" lvl="0" indent="-342900" algn="l" rtl="0">
              <a:lnSpc>
                <a:spcPct val="100000"/>
              </a:lnSpc>
              <a:spcBef>
                <a:spcPts val="0"/>
              </a:spcBef>
              <a:spcAft>
                <a:spcPts val="0"/>
              </a:spcAft>
              <a:buSzPts val="1800"/>
              <a:buChar char="●"/>
            </a:pPr>
            <a:r>
              <a:rPr lang="en" sz="1800"/>
              <a:t>Energy, key, acousticness, danceability, etc.</a:t>
            </a:r>
            <a:endParaRPr sz="1800"/>
          </a:p>
          <a:p>
            <a:pPr marL="457200" lvl="0" indent="-342900" algn="l" rtl="0">
              <a:lnSpc>
                <a:spcPct val="100000"/>
              </a:lnSpc>
              <a:spcBef>
                <a:spcPts val="0"/>
              </a:spcBef>
              <a:spcAft>
                <a:spcPts val="0"/>
              </a:spcAft>
              <a:buSzPts val="1800"/>
              <a:buChar char="●"/>
            </a:pPr>
            <a:r>
              <a:rPr lang="en" sz="1800" b="1">
                <a:latin typeface="Lato"/>
                <a:ea typeface="Lato"/>
                <a:cs typeface="Lato"/>
                <a:sym typeface="Lato"/>
              </a:rPr>
              <a:t>6,578 songs</a:t>
            </a:r>
            <a:r>
              <a:rPr lang="en" sz="1800"/>
              <a:t> with audio features</a:t>
            </a:r>
            <a:endParaRPr sz="1800"/>
          </a:p>
        </p:txBody>
      </p:sp>
      <p:sp>
        <p:nvSpPr>
          <p:cNvPr id="144" name="Google Shape;144;p19"/>
          <p:cNvSpPr/>
          <p:nvPr/>
        </p:nvSpPr>
        <p:spPr>
          <a:xfrm>
            <a:off x="4752775" y="1268050"/>
            <a:ext cx="3709200" cy="5058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700" b="1">
                <a:solidFill>
                  <a:schemeClr val="dk2"/>
                </a:solidFill>
                <a:latin typeface="Lato"/>
                <a:ea typeface="Lato"/>
                <a:cs typeface="Lato"/>
                <a:sym typeface="Lato"/>
              </a:rPr>
              <a:t>Kaggle</a:t>
            </a:r>
            <a:endParaRPr sz="1700" b="1">
              <a:solidFill>
                <a:schemeClr val="dk2"/>
              </a:solidFill>
              <a:latin typeface="Lato"/>
              <a:ea typeface="Lato"/>
              <a:cs typeface="Lato"/>
              <a:sym typeface="Lato"/>
            </a:endParaRPr>
          </a:p>
        </p:txBody>
      </p:sp>
      <p:sp>
        <p:nvSpPr>
          <p:cNvPr id="145" name="Google Shape;145;p19"/>
          <p:cNvSpPr/>
          <p:nvPr/>
        </p:nvSpPr>
        <p:spPr>
          <a:xfrm>
            <a:off x="682050" y="1268050"/>
            <a:ext cx="3709200" cy="5058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700" b="1">
                <a:solidFill>
                  <a:schemeClr val="dk2"/>
                </a:solidFill>
                <a:latin typeface="Lato"/>
                <a:ea typeface="Lato"/>
                <a:cs typeface="Lato"/>
                <a:sym typeface="Lato"/>
              </a:rPr>
              <a:t>YouTube</a:t>
            </a:r>
            <a:endParaRPr sz="1700" b="1">
              <a:solidFill>
                <a:schemeClr val="dk2"/>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628650" y="2074644"/>
            <a:ext cx="7886700" cy="99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t>Data Preparation</a:t>
            </a:r>
            <a:endParaRPr sz="4500" b="1"/>
          </a:p>
        </p:txBody>
      </p:sp>
      <p:cxnSp>
        <p:nvCxnSpPr>
          <p:cNvPr id="151" name="Google Shape;151;p20"/>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152" name="Google Shape;152;p20"/>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sp>
        <p:nvSpPr>
          <p:cNvPr id="157" name="Google Shape;157;p2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Preparation</a:t>
            </a:r>
            <a:endParaRPr/>
          </a:p>
        </p:txBody>
      </p:sp>
      <p:sp>
        <p:nvSpPr>
          <p:cNvPr id="158" name="Google Shape;158;p21"/>
          <p:cNvSpPr txBox="1">
            <a:spLocks noGrp="1"/>
          </p:cNvSpPr>
          <p:nvPr>
            <p:ph type="body" idx="1"/>
          </p:nvPr>
        </p:nvSpPr>
        <p:spPr>
          <a:xfrm>
            <a:off x="386450" y="1223775"/>
            <a:ext cx="2595300" cy="17121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Categorize &amp; dummy-code </a:t>
            </a:r>
            <a:r>
              <a:rPr lang="en" sz="1800" b="1">
                <a:latin typeface="Lato"/>
                <a:ea typeface="Lato"/>
                <a:cs typeface="Lato"/>
                <a:sym typeface="Lato"/>
              </a:rPr>
              <a:t>key</a:t>
            </a:r>
            <a:r>
              <a:rPr lang="en" sz="1800"/>
              <a:t>, artist </a:t>
            </a:r>
            <a:r>
              <a:rPr lang="en" sz="1800" b="1">
                <a:latin typeface="Lato"/>
                <a:ea typeface="Lato"/>
                <a:cs typeface="Lato"/>
                <a:sym typeface="Lato"/>
              </a:rPr>
              <a:t>type </a:t>
            </a:r>
            <a:r>
              <a:rPr lang="en" sz="1800"/>
              <a:t>and </a:t>
            </a:r>
            <a:r>
              <a:rPr lang="en" sz="1800" b="1">
                <a:latin typeface="Lato"/>
                <a:ea typeface="Lato"/>
                <a:cs typeface="Lato"/>
                <a:sym typeface="Lato"/>
              </a:rPr>
              <a:t>country</a:t>
            </a:r>
            <a:endParaRPr sz="1800" b="1">
              <a:latin typeface="Lato"/>
              <a:ea typeface="Lato"/>
              <a:cs typeface="Lato"/>
              <a:sym typeface="Lato"/>
            </a:endParaRPr>
          </a:p>
        </p:txBody>
      </p:sp>
      <p:sp>
        <p:nvSpPr>
          <p:cNvPr id="159" name="Google Shape;159;p21"/>
          <p:cNvSpPr txBox="1">
            <a:spLocks noGrp="1"/>
          </p:cNvSpPr>
          <p:nvPr>
            <p:ph type="body" idx="1"/>
          </p:nvPr>
        </p:nvSpPr>
        <p:spPr>
          <a:xfrm>
            <a:off x="3274351" y="3751563"/>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Mode imputation on artist </a:t>
            </a:r>
            <a:r>
              <a:rPr lang="en" sz="1800" b="1">
                <a:latin typeface="Lato"/>
                <a:ea typeface="Lato"/>
                <a:cs typeface="Lato"/>
                <a:sym typeface="Lato"/>
              </a:rPr>
              <a:t>type</a:t>
            </a:r>
            <a:r>
              <a:rPr lang="en" sz="1800"/>
              <a:t>; collapse levels</a:t>
            </a:r>
            <a:endParaRPr sz="1800"/>
          </a:p>
        </p:txBody>
      </p:sp>
      <p:sp>
        <p:nvSpPr>
          <p:cNvPr id="160" name="Google Shape;160;p21"/>
          <p:cNvSpPr txBox="1">
            <a:spLocks noGrp="1"/>
          </p:cNvSpPr>
          <p:nvPr>
            <p:ph type="body" idx="1"/>
          </p:nvPr>
        </p:nvSpPr>
        <p:spPr>
          <a:xfrm>
            <a:off x="386450" y="3125575"/>
            <a:ext cx="2595300" cy="17121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Median imputation on </a:t>
            </a:r>
            <a:r>
              <a:rPr lang="en" sz="1800" b="1">
                <a:latin typeface="Lato"/>
                <a:ea typeface="Lato"/>
                <a:cs typeface="Lato"/>
                <a:sym typeface="Lato"/>
              </a:rPr>
              <a:t>view_count</a:t>
            </a:r>
            <a:r>
              <a:rPr lang="en" sz="1800"/>
              <a:t> &amp; </a:t>
            </a:r>
            <a:r>
              <a:rPr lang="en" sz="1800" b="1">
                <a:latin typeface="Lato"/>
                <a:ea typeface="Lato"/>
                <a:cs typeface="Lato"/>
                <a:sym typeface="Lato"/>
              </a:rPr>
              <a:t>like_count</a:t>
            </a:r>
            <a:endParaRPr sz="1800"/>
          </a:p>
        </p:txBody>
      </p:sp>
      <p:sp>
        <p:nvSpPr>
          <p:cNvPr id="161" name="Google Shape;161;p21"/>
          <p:cNvSpPr txBox="1">
            <a:spLocks noGrp="1"/>
          </p:cNvSpPr>
          <p:nvPr>
            <p:ph type="body" idx="1"/>
          </p:nvPr>
        </p:nvSpPr>
        <p:spPr>
          <a:xfrm>
            <a:off x="3274351" y="1223863"/>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Correct inaccurate </a:t>
            </a:r>
            <a:r>
              <a:rPr lang="en" sz="1800" b="1">
                <a:latin typeface="Lato"/>
                <a:ea typeface="Lato"/>
                <a:cs typeface="Lato"/>
                <a:sym typeface="Lato"/>
              </a:rPr>
              <a:t>chart_year</a:t>
            </a:r>
            <a:endParaRPr sz="1800"/>
          </a:p>
        </p:txBody>
      </p:sp>
      <p:sp>
        <p:nvSpPr>
          <p:cNvPr id="162" name="Google Shape;162;p21"/>
          <p:cNvSpPr txBox="1">
            <a:spLocks noGrp="1"/>
          </p:cNvSpPr>
          <p:nvPr>
            <p:ph type="body" idx="1"/>
          </p:nvPr>
        </p:nvSpPr>
        <p:spPr>
          <a:xfrm>
            <a:off x="3274351" y="2487713"/>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Zero imputation on </a:t>
            </a:r>
            <a:r>
              <a:rPr lang="en" sz="1800" b="1">
                <a:latin typeface="Lato"/>
                <a:ea typeface="Lato"/>
                <a:cs typeface="Lato"/>
                <a:sym typeface="Lato"/>
              </a:rPr>
              <a:t>comment_count</a:t>
            </a:r>
            <a:endParaRPr sz="1800" b="1">
              <a:latin typeface="Lato"/>
              <a:ea typeface="Lato"/>
              <a:cs typeface="Lato"/>
              <a:sym typeface="Lato"/>
            </a:endParaRPr>
          </a:p>
        </p:txBody>
      </p:sp>
      <p:sp>
        <p:nvSpPr>
          <p:cNvPr id="163" name="Google Shape;163;p21"/>
          <p:cNvSpPr txBox="1">
            <a:spLocks noGrp="1"/>
          </p:cNvSpPr>
          <p:nvPr>
            <p:ph type="body" idx="1"/>
          </p:nvPr>
        </p:nvSpPr>
        <p:spPr>
          <a:xfrm>
            <a:off x="6162250" y="1223775"/>
            <a:ext cx="2595300" cy="17121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Convert artist career </a:t>
            </a:r>
            <a:r>
              <a:rPr lang="en" sz="1800" b="1">
                <a:latin typeface="Lato"/>
                <a:ea typeface="Lato"/>
                <a:cs typeface="Lato"/>
                <a:sym typeface="Lato"/>
              </a:rPr>
              <a:t>begin_date</a:t>
            </a:r>
            <a:r>
              <a:rPr lang="en" sz="1800"/>
              <a:t> to year</a:t>
            </a:r>
            <a:endParaRPr sz="1800"/>
          </a:p>
        </p:txBody>
      </p:sp>
      <p:sp>
        <p:nvSpPr>
          <p:cNvPr id="164" name="Google Shape;164;p21"/>
          <p:cNvSpPr txBox="1">
            <a:spLocks noGrp="1"/>
          </p:cNvSpPr>
          <p:nvPr>
            <p:ph type="body" idx="1"/>
          </p:nvPr>
        </p:nvSpPr>
        <p:spPr>
          <a:xfrm>
            <a:off x="6162250" y="3125582"/>
            <a:ext cx="2595300" cy="17121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Convert </a:t>
            </a:r>
            <a:r>
              <a:rPr lang="en" sz="1800" b="1">
                <a:latin typeface="Lato"/>
                <a:ea typeface="Lato"/>
                <a:cs typeface="Lato"/>
                <a:sym typeface="Lato"/>
              </a:rPr>
              <a:t>chart_year </a:t>
            </a:r>
            <a:r>
              <a:rPr lang="en" sz="1800"/>
              <a:t>to discrete</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p2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Preparation</a:t>
            </a:r>
            <a:endParaRPr/>
          </a:p>
        </p:txBody>
      </p:sp>
      <p:sp>
        <p:nvSpPr>
          <p:cNvPr id="170" name="Google Shape;170;p22"/>
          <p:cNvSpPr txBox="1">
            <a:spLocks noGrp="1"/>
          </p:cNvSpPr>
          <p:nvPr>
            <p:ph type="body" idx="1"/>
          </p:nvPr>
        </p:nvSpPr>
        <p:spPr>
          <a:xfrm>
            <a:off x="3274351" y="2482475"/>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Remove Spanish songs for text mining</a:t>
            </a:r>
            <a:endParaRPr sz="1800"/>
          </a:p>
        </p:txBody>
      </p:sp>
      <p:sp>
        <p:nvSpPr>
          <p:cNvPr id="171" name="Google Shape;171;p22"/>
          <p:cNvSpPr txBox="1">
            <a:spLocks noGrp="1"/>
          </p:cNvSpPr>
          <p:nvPr>
            <p:ph type="body" idx="1"/>
          </p:nvPr>
        </p:nvSpPr>
        <p:spPr>
          <a:xfrm>
            <a:off x="6159450" y="1223850"/>
            <a:ext cx="2595300" cy="1709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Remove stopwords &amp; punctuation from </a:t>
            </a:r>
            <a:r>
              <a:rPr lang="en" sz="1800" b="1">
                <a:latin typeface="Lato"/>
                <a:ea typeface="Lato"/>
                <a:cs typeface="Lato"/>
                <a:sym typeface="Lato"/>
              </a:rPr>
              <a:t>lyrics</a:t>
            </a:r>
            <a:endParaRPr sz="1800" b="1">
              <a:latin typeface="Lato"/>
              <a:ea typeface="Lato"/>
              <a:cs typeface="Lato"/>
              <a:sym typeface="Lato"/>
            </a:endParaRPr>
          </a:p>
        </p:txBody>
      </p:sp>
      <p:sp>
        <p:nvSpPr>
          <p:cNvPr id="172" name="Google Shape;172;p22"/>
          <p:cNvSpPr txBox="1">
            <a:spLocks noGrp="1"/>
          </p:cNvSpPr>
          <p:nvPr>
            <p:ph type="body" idx="1"/>
          </p:nvPr>
        </p:nvSpPr>
        <p:spPr>
          <a:xfrm>
            <a:off x="3274351" y="1223863"/>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Rename song </a:t>
            </a:r>
            <a:r>
              <a:rPr lang="en" sz="1800" b="1">
                <a:latin typeface="Lato"/>
                <a:ea typeface="Lato"/>
                <a:cs typeface="Lato"/>
                <a:sym typeface="Lato"/>
              </a:rPr>
              <a:t>keys</a:t>
            </a:r>
            <a:r>
              <a:rPr lang="en" sz="1800"/>
              <a:t> to letter for interpretation</a:t>
            </a:r>
            <a:endParaRPr sz="1800"/>
          </a:p>
        </p:txBody>
      </p:sp>
      <p:sp>
        <p:nvSpPr>
          <p:cNvPr id="173" name="Google Shape;173;p22"/>
          <p:cNvSpPr txBox="1">
            <a:spLocks noGrp="1"/>
          </p:cNvSpPr>
          <p:nvPr>
            <p:ph type="body" idx="1"/>
          </p:nvPr>
        </p:nvSpPr>
        <p:spPr>
          <a:xfrm>
            <a:off x="6159450" y="3117668"/>
            <a:ext cx="2595300" cy="1709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Drop unnecessary columns including unique identifiers</a:t>
            </a:r>
            <a:endParaRPr sz="1800" b="1">
              <a:latin typeface="Lato"/>
              <a:ea typeface="Lato"/>
              <a:cs typeface="Lato"/>
              <a:sym typeface="Lato"/>
            </a:endParaRPr>
          </a:p>
        </p:txBody>
      </p:sp>
      <p:sp>
        <p:nvSpPr>
          <p:cNvPr id="174" name="Google Shape;174;p22"/>
          <p:cNvSpPr txBox="1">
            <a:spLocks noGrp="1"/>
          </p:cNvSpPr>
          <p:nvPr>
            <p:ph type="body" idx="1"/>
          </p:nvPr>
        </p:nvSpPr>
        <p:spPr>
          <a:xfrm>
            <a:off x="3274351" y="3741063"/>
            <a:ext cx="2595300" cy="10860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Tokenize </a:t>
            </a:r>
            <a:r>
              <a:rPr lang="en" sz="1800" b="1">
                <a:latin typeface="Lato"/>
                <a:ea typeface="Lato"/>
                <a:cs typeface="Lato"/>
                <a:sym typeface="Lato"/>
              </a:rPr>
              <a:t>lyrics</a:t>
            </a:r>
            <a:endParaRPr sz="1800"/>
          </a:p>
        </p:txBody>
      </p:sp>
      <p:sp>
        <p:nvSpPr>
          <p:cNvPr id="175" name="Google Shape;175;p22"/>
          <p:cNvSpPr txBox="1">
            <a:spLocks noGrp="1"/>
          </p:cNvSpPr>
          <p:nvPr>
            <p:ph type="body" idx="1"/>
          </p:nvPr>
        </p:nvSpPr>
        <p:spPr>
          <a:xfrm>
            <a:off x="389250" y="3117675"/>
            <a:ext cx="2595300" cy="1709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Collapse artist </a:t>
            </a:r>
            <a:r>
              <a:rPr lang="en" sz="1800" b="1">
                <a:latin typeface="Lato"/>
                <a:ea typeface="Lato"/>
                <a:cs typeface="Lato"/>
                <a:sym typeface="Lato"/>
              </a:rPr>
              <a:t>country</a:t>
            </a:r>
            <a:r>
              <a:rPr lang="en" sz="1800"/>
              <a:t> into US, CA, GB, &amp; Other</a:t>
            </a:r>
            <a:endParaRPr sz="1800"/>
          </a:p>
        </p:txBody>
      </p:sp>
      <p:sp>
        <p:nvSpPr>
          <p:cNvPr id="176" name="Google Shape;176;p22"/>
          <p:cNvSpPr txBox="1">
            <a:spLocks noGrp="1"/>
          </p:cNvSpPr>
          <p:nvPr>
            <p:ph type="body" idx="1"/>
          </p:nvPr>
        </p:nvSpPr>
        <p:spPr>
          <a:xfrm>
            <a:off x="389250" y="1223883"/>
            <a:ext cx="2595300" cy="1709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ctr" rtl="0">
              <a:lnSpc>
                <a:spcPct val="100000"/>
              </a:lnSpc>
              <a:spcBef>
                <a:spcPts val="800"/>
              </a:spcBef>
              <a:spcAft>
                <a:spcPts val="0"/>
              </a:spcAft>
              <a:buNone/>
            </a:pPr>
            <a:r>
              <a:rPr lang="en" sz="1800"/>
              <a:t>Split list of </a:t>
            </a:r>
            <a:r>
              <a:rPr lang="en" sz="1800" b="1">
                <a:latin typeface="Lato"/>
                <a:ea typeface="Lato"/>
                <a:cs typeface="Lato"/>
                <a:sym typeface="Lato"/>
              </a:rPr>
              <a:t>genres</a:t>
            </a:r>
            <a:r>
              <a:rPr lang="en" sz="1800"/>
              <a:t> into elements &amp; group into major categories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Feature Engineering</a:t>
            </a:r>
            <a:endParaRPr/>
          </a:p>
        </p:txBody>
      </p:sp>
      <p:sp>
        <p:nvSpPr>
          <p:cNvPr id="182" name="Google Shape;182;p23"/>
          <p:cNvSpPr txBox="1">
            <a:spLocks noGrp="1"/>
          </p:cNvSpPr>
          <p:nvPr>
            <p:ph type="body" idx="1"/>
          </p:nvPr>
        </p:nvSpPr>
        <p:spPr>
          <a:xfrm>
            <a:off x="628650" y="1369219"/>
            <a:ext cx="7886700" cy="32634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Clr>
                <a:srgbClr val="C41230"/>
              </a:buClr>
              <a:buSzPts val="1400"/>
              <a:buChar char="●"/>
            </a:pPr>
            <a:r>
              <a:rPr lang="en">
                <a:solidFill>
                  <a:srgbClr val="C41230"/>
                </a:solidFill>
              </a:rPr>
              <a:t>Sentiment analysis</a:t>
            </a:r>
            <a:endParaRPr>
              <a:solidFill>
                <a:srgbClr val="C41230"/>
              </a:solidFill>
            </a:endParaRPr>
          </a:p>
          <a:p>
            <a:pPr marL="914400" lvl="1" indent="-342900" algn="l" rtl="0">
              <a:lnSpc>
                <a:spcPct val="115000"/>
              </a:lnSpc>
              <a:spcBef>
                <a:spcPts val="0"/>
              </a:spcBef>
              <a:spcAft>
                <a:spcPts val="0"/>
              </a:spcAft>
              <a:buClr>
                <a:srgbClr val="C41230"/>
              </a:buClr>
              <a:buSzPts val="1800"/>
              <a:buChar char="○"/>
            </a:pPr>
            <a:r>
              <a:rPr lang="en">
                <a:solidFill>
                  <a:srgbClr val="C41230"/>
                </a:solidFill>
              </a:rPr>
              <a:t>Positive, negative, neutral, and compound sentiment for titles</a:t>
            </a:r>
            <a:endParaRPr>
              <a:solidFill>
                <a:srgbClr val="C41230"/>
              </a:solidFill>
            </a:endParaRPr>
          </a:p>
          <a:p>
            <a:pPr marL="914400" lvl="1" indent="-342900" algn="l" rtl="0">
              <a:lnSpc>
                <a:spcPct val="115000"/>
              </a:lnSpc>
              <a:spcBef>
                <a:spcPts val="0"/>
              </a:spcBef>
              <a:spcAft>
                <a:spcPts val="0"/>
              </a:spcAft>
              <a:buClr>
                <a:srgbClr val="C41230"/>
              </a:buClr>
              <a:buSzPts val="1800"/>
              <a:buChar char="○"/>
            </a:pPr>
            <a:r>
              <a:rPr lang="en">
                <a:solidFill>
                  <a:srgbClr val="C41230"/>
                </a:solidFill>
              </a:rPr>
              <a:t>Positive, negative, neutral, and compound sentiment for lyrics</a:t>
            </a:r>
            <a:endParaRPr>
              <a:solidFill>
                <a:srgbClr val="C41230"/>
              </a:solidFill>
            </a:endParaRPr>
          </a:p>
          <a:p>
            <a:pPr marL="457200" lvl="0" indent="-317500" algn="l" rtl="0">
              <a:lnSpc>
                <a:spcPct val="115000"/>
              </a:lnSpc>
              <a:spcBef>
                <a:spcPts val="0"/>
              </a:spcBef>
              <a:spcAft>
                <a:spcPts val="0"/>
              </a:spcAft>
              <a:buClr>
                <a:srgbClr val="C41230"/>
              </a:buClr>
              <a:buSzPts val="1400"/>
              <a:buChar char="●"/>
            </a:pPr>
            <a:r>
              <a:rPr lang="en">
                <a:solidFill>
                  <a:srgbClr val="C41230"/>
                </a:solidFill>
              </a:rPr>
              <a:t>Sentiment subjectivity analysis for lyrics</a:t>
            </a:r>
            <a:endParaRPr>
              <a:solidFill>
                <a:srgbClr val="C41230"/>
              </a:solidFill>
            </a:endParaRPr>
          </a:p>
          <a:p>
            <a:pPr marL="457200" lvl="0" indent="-317500" algn="l" rtl="0">
              <a:lnSpc>
                <a:spcPct val="115000"/>
              </a:lnSpc>
              <a:spcBef>
                <a:spcPts val="0"/>
              </a:spcBef>
              <a:spcAft>
                <a:spcPts val="0"/>
              </a:spcAft>
              <a:buClr>
                <a:srgbClr val="C41230"/>
              </a:buClr>
              <a:buSzPts val="1400"/>
              <a:buChar char="●"/>
            </a:pPr>
            <a:r>
              <a:rPr lang="en">
                <a:solidFill>
                  <a:srgbClr val="C41230"/>
                </a:solidFill>
              </a:rPr>
              <a:t>Lexical feature analysis</a:t>
            </a:r>
            <a:endParaRPr>
              <a:solidFill>
                <a:srgbClr val="C41230"/>
              </a:solidFill>
            </a:endParaRPr>
          </a:p>
          <a:p>
            <a:pPr marL="914400" lvl="1" indent="-317500" algn="l" rtl="0">
              <a:lnSpc>
                <a:spcPct val="115000"/>
              </a:lnSpc>
              <a:spcBef>
                <a:spcPts val="0"/>
              </a:spcBef>
              <a:spcAft>
                <a:spcPts val="0"/>
              </a:spcAft>
              <a:buClr>
                <a:srgbClr val="C41230"/>
              </a:buClr>
              <a:buSzPts val="1400"/>
              <a:buChar char="○"/>
            </a:pPr>
            <a:r>
              <a:rPr lang="en">
                <a:solidFill>
                  <a:srgbClr val="C41230"/>
                </a:solidFill>
              </a:rPr>
              <a:t>Word count, unique word count, average word length, vocab richness</a:t>
            </a:r>
            <a:endParaRPr/>
          </a:p>
          <a:p>
            <a:pPr marL="0" lvl="0" indent="0" algn="l" rtl="0">
              <a:spcBef>
                <a:spcPts val="8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Feature Engineering</a:t>
            </a:r>
            <a:endParaRPr/>
          </a:p>
        </p:txBody>
      </p:sp>
      <p:sp>
        <p:nvSpPr>
          <p:cNvPr id="188" name="Google Shape;188;p24"/>
          <p:cNvSpPr txBox="1">
            <a:spLocks noGrp="1"/>
          </p:cNvSpPr>
          <p:nvPr>
            <p:ph type="body" idx="1"/>
          </p:nvPr>
        </p:nvSpPr>
        <p:spPr>
          <a:xfrm>
            <a:off x="628650" y="1369219"/>
            <a:ext cx="7886700" cy="32634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SzPts val="1400"/>
              <a:buChar char="●"/>
            </a:pPr>
            <a:r>
              <a:rPr lang="en"/>
              <a:t>LDA topic modeling</a:t>
            </a:r>
            <a:endParaRPr/>
          </a:p>
          <a:p>
            <a:pPr marL="914400" lvl="1" indent="-317500" algn="l" rtl="0">
              <a:lnSpc>
                <a:spcPct val="115000"/>
              </a:lnSpc>
              <a:spcBef>
                <a:spcPts val="0"/>
              </a:spcBef>
              <a:spcAft>
                <a:spcPts val="0"/>
              </a:spcAft>
              <a:buClr>
                <a:schemeClr val="dk1"/>
              </a:buClr>
              <a:buSzPts val="1400"/>
              <a:buChar char="○"/>
            </a:pPr>
            <a:r>
              <a:rPr lang="en"/>
              <a:t>Iterate through topic numbers to find optimal topic number (best coherence, little to no overlap in topics)</a:t>
            </a:r>
            <a:endParaRPr/>
          </a:p>
          <a:p>
            <a:pPr marL="914400" lvl="1" indent="-317500" algn="l" rtl="0">
              <a:lnSpc>
                <a:spcPct val="115000"/>
              </a:lnSpc>
              <a:spcBef>
                <a:spcPts val="0"/>
              </a:spcBef>
              <a:spcAft>
                <a:spcPts val="0"/>
              </a:spcAft>
              <a:buClr>
                <a:schemeClr val="dk1"/>
              </a:buClr>
              <a:buSzPts val="1400"/>
              <a:buChar char="○"/>
            </a:pPr>
            <a:r>
              <a:rPr lang="en"/>
              <a:t>Settled on 7 topics with very little overlap</a:t>
            </a:r>
            <a:endParaRPr/>
          </a:p>
          <a:p>
            <a:pPr marL="914400" lvl="1" indent="-317500" algn="l" rtl="0">
              <a:lnSpc>
                <a:spcPct val="115000"/>
              </a:lnSpc>
              <a:spcBef>
                <a:spcPts val="0"/>
              </a:spcBef>
              <a:spcAft>
                <a:spcPts val="0"/>
              </a:spcAft>
              <a:buClr>
                <a:schemeClr val="dk1"/>
              </a:buClr>
              <a:buSzPts val="1400"/>
              <a:buChar char="○"/>
            </a:pPr>
            <a:r>
              <a:rPr lang="en"/>
              <a:t>Named topics for dataset by having ChatGPT assess top 30 words in each topic</a:t>
            </a:r>
            <a:endParaRPr>
              <a:solidFill>
                <a:srgbClr val="C4123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a:blip r:embed="rId3">
            <a:alphaModFix/>
          </a:blip>
          <a:stretch>
            <a:fillRect/>
          </a:stretch>
        </p:blipFill>
        <p:spPr>
          <a:xfrm>
            <a:off x="595012" y="239475"/>
            <a:ext cx="7953975" cy="4664550"/>
          </a:xfrm>
          <a:prstGeom prst="rect">
            <a:avLst/>
          </a:prstGeom>
          <a:noFill/>
          <a:ln>
            <a:noFill/>
          </a:ln>
        </p:spPr>
      </p:pic>
      <p:sp>
        <p:nvSpPr>
          <p:cNvPr id="194" name="Google Shape;194;p25"/>
          <p:cNvSpPr/>
          <p:nvPr/>
        </p:nvSpPr>
        <p:spPr>
          <a:xfrm>
            <a:off x="4748675" y="950925"/>
            <a:ext cx="214500" cy="1107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
              <a:latin typeface="Lato Light"/>
              <a:ea typeface="Lato Light"/>
              <a:cs typeface="Lato Light"/>
              <a:sym typeface="Lato Light"/>
            </a:endParaRPr>
          </a:p>
        </p:txBody>
      </p:sp>
      <p:sp>
        <p:nvSpPr>
          <p:cNvPr id="195" name="Google Shape;195;p25"/>
          <p:cNvSpPr/>
          <p:nvPr/>
        </p:nvSpPr>
        <p:spPr>
          <a:xfrm>
            <a:off x="4748675" y="1288450"/>
            <a:ext cx="214500" cy="1107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196" name="Google Shape;196;p25"/>
          <p:cNvSpPr/>
          <p:nvPr/>
        </p:nvSpPr>
        <p:spPr>
          <a:xfrm>
            <a:off x="4748675" y="1742425"/>
            <a:ext cx="214500" cy="1107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197" name="Google Shape;197;p25"/>
          <p:cNvSpPr/>
          <p:nvPr/>
        </p:nvSpPr>
        <p:spPr>
          <a:xfrm>
            <a:off x="4748675" y="1853125"/>
            <a:ext cx="214500" cy="1107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Topic Names &amp; Keywords</a:t>
            </a:r>
            <a:endParaRPr/>
          </a:p>
        </p:txBody>
      </p:sp>
      <p:sp>
        <p:nvSpPr>
          <p:cNvPr id="203" name="Google Shape;203;p26"/>
          <p:cNvSpPr txBox="1">
            <a:spLocks noGrp="1"/>
          </p:cNvSpPr>
          <p:nvPr>
            <p:ph type="body" idx="1"/>
          </p:nvPr>
        </p:nvSpPr>
        <p:spPr>
          <a:xfrm>
            <a:off x="1159150" y="12680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Rap &amp; Street Slang</a:t>
            </a:r>
            <a:endParaRPr sz="1800" b="1">
              <a:latin typeface="Lato"/>
              <a:ea typeface="Lato"/>
              <a:cs typeface="Lato"/>
              <a:sym typeface="Lato"/>
            </a:endParaRPr>
          </a:p>
        </p:txBody>
      </p:sp>
      <p:sp>
        <p:nvSpPr>
          <p:cNvPr id="204" name="Google Shape;204;p26"/>
          <p:cNvSpPr txBox="1">
            <a:spLocks noGrp="1"/>
          </p:cNvSpPr>
          <p:nvPr>
            <p:ph type="body" idx="1"/>
          </p:nvPr>
        </p:nvSpPr>
        <p:spPr>
          <a:xfrm>
            <a:off x="1159150" y="17843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Romance &amp; Relationships</a:t>
            </a:r>
            <a:endParaRPr sz="1800" b="1">
              <a:latin typeface="Lato"/>
              <a:ea typeface="Lato"/>
              <a:cs typeface="Lato"/>
              <a:sym typeface="Lato"/>
            </a:endParaRPr>
          </a:p>
        </p:txBody>
      </p:sp>
      <p:sp>
        <p:nvSpPr>
          <p:cNvPr id="205" name="Google Shape;205;p26"/>
          <p:cNvSpPr/>
          <p:nvPr/>
        </p:nvSpPr>
        <p:spPr>
          <a:xfrm>
            <a:off x="532600" y="12680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1</a:t>
            </a:r>
            <a:endParaRPr sz="1900" b="1">
              <a:solidFill>
                <a:schemeClr val="lt1"/>
              </a:solidFill>
              <a:latin typeface="Lato"/>
              <a:ea typeface="Lato"/>
              <a:cs typeface="Lato"/>
              <a:sym typeface="Lato"/>
            </a:endParaRPr>
          </a:p>
        </p:txBody>
      </p:sp>
      <p:sp>
        <p:nvSpPr>
          <p:cNvPr id="206" name="Google Shape;206;p26"/>
          <p:cNvSpPr/>
          <p:nvPr/>
        </p:nvSpPr>
        <p:spPr>
          <a:xfrm>
            <a:off x="532600" y="17843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2</a:t>
            </a:r>
            <a:endParaRPr sz="1900" b="1">
              <a:solidFill>
                <a:schemeClr val="lt1"/>
              </a:solidFill>
              <a:latin typeface="Lato"/>
              <a:ea typeface="Lato"/>
              <a:cs typeface="Lato"/>
              <a:sym typeface="Lato"/>
            </a:endParaRPr>
          </a:p>
        </p:txBody>
      </p:sp>
      <p:sp>
        <p:nvSpPr>
          <p:cNvPr id="207" name="Google Shape;207;p26"/>
          <p:cNvSpPr/>
          <p:nvPr/>
        </p:nvSpPr>
        <p:spPr>
          <a:xfrm>
            <a:off x="532600" y="23006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3</a:t>
            </a:r>
            <a:endParaRPr sz="1900" b="1">
              <a:solidFill>
                <a:schemeClr val="lt1"/>
              </a:solidFill>
              <a:latin typeface="Lato"/>
              <a:ea typeface="Lato"/>
              <a:cs typeface="Lato"/>
              <a:sym typeface="Lato"/>
            </a:endParaRPr>
          </a:p>
        </p:txBody>
      </p:sp>
      <p:sp>
        <p:nvSpPr>
          <p:cNvPr id="208" name="Google Shape;208;p26"/>
          <p:cNvSpPr/>
          <p:nvPr/>
        </p:nvSpPr>
        <p:spPr>
          <a:xfrm>
            <a:off x="532600" y="28169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4</a:t>
            </a:r>
            <a:endParaRPr sz="1900" b="1">
              <a:solidFill>
                <a:schemeClr val="lt1"/>
              </a:solidFill>
              <a:latin typeface="Lato"/>
              <a:ea typeface="Lato"/>
              <a:cs typeface="Lato"/>
              <a:sym typeface="Lato"/>
            </a:endParaRPr>
          </a:p>
        </p:txBody>
      </p:sp>
      <p:sp>
        <p:nvSpPr>
          <p:cNvPr id="209" name="Google Shape;209;p26"/>
          <p:cNvSpPr/>
          <p:nvPr/>
        </p:nvSpPr>
        <p:spPr>
          <a:xfrm>
            <a:off x="532600" y="33332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5</a:t>
            </a:r>
            <a:endParaRPr sz="1900" b="1">
              <a:solidFill>
                <a:schemeClr val="lt1"/>
              </a:solidFill>
              <a:latin typeface="Lato"/>
              <a:ea typeface="Lato"/>
              <a:cs typeface="Lato"/>
              <a:sym typeface="Lato"/>
            </a:endParaRPr>
          </a:p>
        </p:txBody>
      </p:sp>
      <p:sp>
        <p:nvSpPr>
          <p:cNvPr id="210" name="Google Shape;210;p26"/>
          <p:cNvSpPr/>
          <p:nvPr/>
        </p:nvSpPr>
        <p:spPr>
          <a:xfrm>
            <a:off x="532600" y="38495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6</a:t>
            </a:r>
            <a:endParaRPr sz="1900" b="1">
              <a:solidFill>
                <a:schemeClr val="lt1"/>
              </a:solidFill>
              <a:latin typeface="Lato"/>
              <a:ea typeface="Lato"/>
              <a:cs typeface="Lato"/>
              <a:sym typeface="Lato"/>
            </a:endParaRPr>
          </a:p>
        </p:txBody>
      </p:sp>
      <p:sp>
        <p:nvSpPr>
          <p:cNvPr id="211" name="Google Shape;211;p26"/>
          <p:cNvSpPr/>
          <p:nvPr/>
        </p:nvSpPr>
        <p:spPr>
          <a:xfrm>
            <a:off x="532600" y="4365850"/>
            <a:ext cx="458700" cy="4245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Lato"/>
                <a:ea typeface="Lato"/>
                <a:cs typeface="Lato"/>
                <a:sym typeface="Lato"/>
              </a:rPr>
              <a:t>7</a:t>
            </a:r>
            <a:endParaRPr sz="1900" b="1">
              <a:solidFill>
                <a:schemeClr val="lt1"/>
              </a:solidFill>
              <a:latin typeface="Lato"/>
              <a:ea typeface="Lato"/>
              <a:cs typeface="Lato"/>
              <a:sym typeface="Lato"/>
            </a:endParaRPr>
          </a:p>
        </p:txBody>
      </p:sp>
      <p:sp>
        <p:nvSpPr>
          <p:cNvPr id="212" name="Google Shape;212;p26"/>
          <p:cNvSpPr txBox="1">
            <a:spLocks noGrp="1"/>
          </p:cNvSpPr>
          <p:nvPr>
            <p:ph type="body" idx="1"/>
          </p:nvPr>
        </p:nvSpPr>
        <p:spPr>
          <a:xfrm>
            <a:off x="1159150" y="23006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Life &amp; Nostalgia</a:t>
            </a:r>
            <a:endParaRPr sz="1800" b="1">
              <a:latin typeface="Lato"/>
              <a:ea typeface="Lato"/>
              <a:cs typeface="Lato"/>
              <a:sym typeface="Lato"/>
            </a:endParaRPr>
          </a:p>
        </p:txBody>
      </p:sp>
      <p:sp>
        <p:nvSpPr>
          <p:cNvPr id="213" name="Google Shape;213;p26"/>
          <p:cNvSpPr txBox="1">
            <a:spLocks noGrp="1"/>
          </p:cNvSpPr>
          <p:nvPr>
            <p:ph type="body" idx="1"/>
          </p:nvPr>
        </p:nvSpPr>
        <p:spPr>
          <a:xfrm>
            <a:off x="1159150" y="28169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Party &amp; Sensuality</a:t>
            </a:r>
            <a:endParaRPr sz="1800"/>
          </a:p>
        </p:txBody>
      </p:sp>
      <p:sp>
        <p:nvSpPr>
          <p:cNvPr id="214" name="Google Shape;214;p26"/>
          <p:cNvSpPr txBox="1">
            <a:spLocks noGrp="1"/>
          </p:cNvSpPr>
          <p:nvPr>
            <p:ph type="body" idx="1"/>
          </p:nvPr>
        </p:nvSpPr>
        <p:spPr>
          <a:xfrm>
            <a:off x="1159150" y="33406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Love &amp; Emotion</a:t>
            </a:r>
            <a:endParaRPr sz="1800"/>
          </a:p>
        </p:txBody>
      </p:sp>
      <p:sp>
        <p:nvSpPr>
          <p:cNvPr id="215" name="Google Shape;215;p26"/>
          <p:cNvSpPr txBox="1">
            <a:spLocks noGrp="1"/>
          </p:cNvSpPr>
          <p:nvPr>
            <p:ph type="body" idx="1"/>
          </p:nvPr>
        </p:nvSpPr>
        <p:spPr>
          <a:xfrm>
            <a:off x="1159150" y="38569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Loss &amp; Struggle</a:t>
            </a:r>
            <a:endParaRPr sz="1800" b="1">
              <a:latin typeface="Lato"/>
              <a:ea typeface="Lato"/>
              <a:cs typeface="Lato"/>
              <a:sym typeface="Lato"/>
            </a:endParaRPr>
          </a:p>
        </p:txBody>
      </p:sp>
      <p:sp>
        <p:nvSpPr>
          <p:cNvPr id="216" name="Google Shape;216;p26"/>
          <p:cNvSpPr txBox="1">
            <a:spLocks noGrp="1"/>
          </p:cNvSpPr>
          <p:nvPr>
            <p:ph type="body" idx="1"/>
          </p:nvPr>
        </p:nvSpPr>
        <p:spPr>
          <a:xfrm>
            <a:off x="1159150" y="4373250"/>
            <a:ext cx="2701200" cy="4245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00000"/>
              </a:lnSpc>
              <a:spcBef>
                <a:spcPts val="800"/>
              </a:spcBef>
              <a:spcAft>
                <a:spcPts val="0"/>
              </a:spcAft>
              <a:buNone/>
            </a:pPr>
            <a:r>
              <a:rPr lang="en" sz="1800"/>
              <a:t>Epic Energy &amp; Vibes</a:t>
            </a:r>
            <a:endParaRPr sz="1800" b="1">
              <a:latin typeface="Lato"/>
              <a:ea typeface="Lato"/>
              <a:cs typeface="Lato"/>
              <a:sym typeface="Lato"/>
            </a:endParaRPr>
          </a:p>
        </p:txBody>
      </p:sp>
      <p:sp>
        <p:nvSpPr>
          <p:cNvPr id="217" name="Google Shape;217;p26"/>
          <p:cNvSpPr txBox="1"/>
          <p:nvPr/>
        </p:nvSpPr>
        <p:spPr>
          <a:xfrm>
            <a:off x="4571999" y="1268050"/>
            <a:ext cx="4425043"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Lato Light"/>
                <a:ea typeface="Lato Light"/>
                <a:cs typeface="Lato Light"/>
                <a:sym typeface="Lato Light"/>
              </a:rPr>
              <a:t>n****, b****, s***, f***, money, back, big, hit</a:t>
            </a:r>
            <a:endParaRPr sz="1800" dirty="0">
              <a:solidFill>
                <a:schemeClr val="dk1"/>
              </a:solidFill>
              <a:latin typeface="Lato Light"/>
              <a:ea typeface="Lato Light"/>
              <a:cs typeface="Lato Light"/>
              <a:sym typeface="Lato Light"/>
            </a:endParaRPr>
          </a:p>
        </p:txBody>
      </p:sp>
      <p:cxnSp>
        <p:nvCxnSpPr>
          <p:cNvPr id="218" name="Google Shape;218;p26"/>
          <p:cNvCxnSpPr>
            <a:cxnSpLocks/>
            <a:stCxn id="203" idx="3"/>
            <a:endCxn id="217" idx="1"/>
          </p:cNvCxnSpPr>
          <p:nvPr/>
        </p:nvCxnSpPr>
        <p:spPr>
          <a:xfrm>
            <a:off x="3860350" y="1480300"/>
            <a:ext cx="711649" cy="0"/>
          </a:xfrm>
          <a:prstGeom prst="straightConnector1">
            <a:avLst/>
          </a:prstGeom>
          <a:noFill/>
          <a:ln w="28575" cap="flat" cmpd="sng">
            <a:solidFill>
              <a:schemeClr val="dk2"/>
            </a:solidFill>
            <a:prstDash val="solid"/>
            <a:round/>
            <a:headEnd type="none" w="med" len="med"/>
            <a:tailEnd type="triangle" w="med" len="med"/>
          </a:ln>
        </p:spPr>
      </p:cxnSp>
      <p:sp>
        <p:nvSpPr>
          <p:cNvPr id="219" name="Google Shape;219;p26"/>
          <p:cNvSpPr txBox="1"/>
          <p:nvPr/>
        </p:nvSpPr>
        <p:spPr>
          <a:xfrm>
            <a:off x="4571949" y="1784350"/>
            <a:ext cx="4327121"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chemeClr val="dk1"/>
                </a:solidFill>
                <a:latin typeface="Lato Light"/>
                <a:ea typeface="Lato Light"/>
                <a:cs typeface="Lato Light"/>
                <a:sym typeface="Lato Light"/>
              </a:rPr>
              <a:t>love, time, feel, heart, life, alright, tonight</a:t>
            </a:r>
            <a:endParaRPr sz="1800" dirty="0">
              <a:solidFill>
                <a:schemeClr val="dk1"/>
              </a:solidFill>
              <a:latin typeface="Lato Light"/>
              <a:ea typeface="Lato Light"/>
              <a:cs typeface="Lato Light"/>
              <a:sym typeface="Lato Light"/>
            </a:endParaRPr>
          </a:p>
        </p:txBody>
      </p:sp>
      <p:cxnSp>
        <p:nvCxnSpPr>
          <p:cNvPr id="220" name="Google Shape;220;p26"/>
          <p:cNvCxnSpPr>
            <a:cxnSpLocks/>
            <a:endCxn id="219" idx="1"/>
          </p:cNvCxnSpPr>
          <p:nvPr/>
        </p:nvCxnSpPr>
        <p:spPr>
          <a:xfrm>
            <a:off x="3860350" y="1996600"/>
            <a:ext cx="711599" cy="0"/>
          </a:xfrm>
          <a:prstGeom prst="straightConnector1">
            <a:avLst/>
          </a:prstGeom>
          <a:noFill/>
          <a:ln w="28575" cap="flat" cmpd="sng">
            <a:solidFill>
              <a:schemeClr val="dk2"/>
            </a:solidFill>
            <a:prstDash val="solid"/>
            <a:round/>
            <a:headEnd type="none" w="med" len="med"/>
            <a:tailEnd type="triangle" w="med" len="med"/>
          </a:ln>
        </p:spPr>
      </p:cxnSp>
      <p:sp>
        <p:nvSpPr>
          <p:cNvPr id="221" name="Google Shape;221;p26"/>
          <p:cNvSpPr txBox="1"/>
          <p:nvPr/>
        </p:nvSpPr>
        <p:spPr>
          <a:xfrm>
            <a:off x="4571950" y="2300650"/>
            <a:ext cx="4135200"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Lato Light"/>
                <a:ea typeface="Lato Light"/>
                <a:cs typeface="Lato Light"/>
                <a:sym typeface="Lato Light"/>
              </a:rPr>
              <a:t>night, one, back, way, never, day, time</a:t>
            </a:r>
            <a:endParaRPr sz="1800">
              <a:solidFill>
                <a:schemeClr val="dk1"/>
              </a:solidFill>
              <a:latin typeface="Lato Light"/>
              <a:ea typeface="Lato Light"/>
              <a:cs typeface="Lato Light"/>
              <a:sym typeface="Lato Light"/>
            </a:endParaRPr>
          </a:p>
        </p:txBody>
      </p:sp>
      <p:cxnSp>
        <p:nvCxnSpPr>
          <p:cNvPr id="222" name="Google Shape;222;p26"/>
          <p:cNvCxnSpPr>
            <a:endCxn id="221" idx="1"/>
          </p:cNvCxnSpPr>
          <p:nvPr/>
        </p:nvCxnSpPr>
        <p:spPr>
          <a:xfrm>
            <a:off x="3860350" y="2512900"/>
            <a:ext cx="711600" cy="0"/>
          </a:xfrm>
          <a:prstGeom prst="straightConnector1">
            <a:avLst/>
          </a:prstGeom>
          <a:noFill/>
          <a:ln w="28575" cap="flat" cmpd="sng">
            <a:solidFill>
              <a:schemeClr val="dk2"/>
            </a:solidFill>
            <a:prstDash val="solid"/>
            <a:round/>
            <a:headEnd type="none" w="med" len="med"/>
            <a:tailEnd type="triangle" w="med" len="med"/>
          </a:ln>
        </p:spPr>
      </p:cxnSp>
      <p:sp>
        <p:nvSpPr>
          <p:cNvPr id="223" name="Google Shape;223;p26"/>
          <p:cNvSpPr txBox="1"/>
          <p:nvPr/>
        </p:nvSpPr>
        <p:spPr>
          <a:xfrm>
            <a:off x="4571950" y="2816950"/>
            <a:ext cx="4135200"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Lato Light"/>
                <a:ea typeface="Lato Light"/>
                <a:cs typeface="Lato Light"/>
                <a:sym typeface="Lato Light"/>
              </a:rPr>
              <a:t>baby, right, girl, body, dance, way, stop</a:t>
            </a:r>
            <a:endParaRPr sz="1800">
              <a:solidFill>
                <a:schemeClr val="dk1"/>
              </a:solidFill>
              <a:latin typeface="Lato Light"/>
              <a:ea typeface="Lato Light"/>
              <a:cs typeface="Lato Light"/>
              <a:sym typeface="Lato Light"/>
            </a:endParaRPr>
          </a:p>
        </p:txBody>
      </p:sp>
      <p:cxnSp>
        <p:nvCxnSpPr>
          <p:cNvPr id="224" name="Google Shape;224;p26"/>
          <p:cNvCxnSpPr>
            <a:endCxn id="223" idx="1"/>
          </p:cNvCxnSpPr>
          <p:nvPr/>
        </p:nvCxnSpPr>
        <p:spPr>
          <a:xfrm>
            <a:off x="3860350" y="3029200"/>
            <a:ext cx="711600" cy="0"/>
          </a:xfrm>
          <a:prstGeom prst="straightConnector1">
            <a:avLst/>
          </a:prstGeom>
          <a:noFill/>
          <a:ln w="28575" cap="flat" cmpd="sng">
            <a:solidFill>
              <a:schemeClr val="dk2"/>
            </a:solidFill>
            <a:prstDash val="solid"/>
            <a:round/>
            <a:headEnd type="none" w="med" len="med"/>
            <a:tailEnd type="triangle" w="med" len="med"/>
          </a:ln>
        </p:spPr>
      </p:cxnSp>
      <p:sp>
        <p:nvSpPr>
          <p:cNvPr id="225" name="Google Shape;225;p26"/>
          <p:cNvSpPr txBox="1"/>
          <p:nvPr/>
        </p:nvSpPr>
        <p:spPr>
          <a:xfrm>
            <a:off x="4571950" y="3333250"/>
            <a:ext cx="4135200"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Lato Light"/>
                <a:ea typeface="Lato Light"/>
                <a:cs typeface="Lato Light"/>
                <a:sym typeface="Lato Light"/>
              </a:rPr>
              <a:t>love, girl, never, one, baby, could, tell</a:t>
            </a:r>
            <a:endParaRPr sz="1800">
              <a:solidFill>
                <a:schemeClr val="dk1"/>
              </a:solidFill>
              <a:latin typeface="Lato Light"/>
              <a:ea typeface="Lato Light"/>
              <a:cs typeface="Lato Light"/>
              <a:sym typeface="Lato Light"/>
            </a:endParaRPr>
          </a:p>
        </p:txBody>
      </p:sp>
      <p:cxnSp>
        <p:nvCxnSpPr>
          <p:cNvPr id="226" name="Google Shape;226;p26"/>
          <p:cNvCxnSpPr>
            <a:endCxn id="225" idx="1"/>
          </p:cNvCxnSpPr>
          <p:nvPr/>
        </p:nvCxnSpPr>
        <p:spPr>
          <a:xfrm>
            <a:off x="3860350" y="3545500"/>
            <a:ext cx="711600" cy="0"/>
          </a:xfrm>
          <a:prstGeom prst="straightConnector1">
            <a:avLst/>
          </a:prstGeom>
          <a:noFill/>
          <a:ln w="28575" cap="flat" cmpd="sng">
            <a:solidFill>
              <a:schemeClr val="dk2"/>
            </a:solidFill>
            <a:prstDash val="solid"/>
            <a:round/>
            <a:headEnd type="none" w="med" len="med"/>
            <a:tailEnd type="triangle" w="med" len="med"/>
          </a:ln>
        </p:spPr>
      </p:cxnSp>
      <p:sp>
        <p:nvSpPr>
          <p:cNvPr id="227" name="Google Shape;227;p26"/>
          <p:cNvSpPr txBox="1"/>
          <p:nvPr/>
        </p:nvSpPr>
        <p:spPr>
          <a:xfrm>
            <a:off x="4571950" y="3856950"/>
            <a:ext cx="4327120"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chemeClr val="dk1"/>
                </a:solidFill>
                <a:latin typeface="Lato Light"/>
                <a:ea typeface="Lato Light"/>
                <a:cs typeface="Lato Light"/>
                <a:sym typeface="Lato Light"/>
              </a:rPr>
              <a:t>feel, look, ride, high, look, rock, thank, fire</a:t>
            </a:r>
            <a:endParaRPr sz="1800" dirty="0">
              <a:solidFill>
                <a:schemeClr val="dk1"/>
              </a:solidFill>
              <a:latin typeface="Lato Light"/>
              <a:ea typeface="Lato Light"/>
              <a:cs typeface="Lato Light"/>
              <a:sym typeface="Lato Light"/>
            </a:endParaRPr>
          </a:p>
        </p:txBody>
      </p:sp>
      <p:cxnSp>
        <p:nvCxnSpPr>
          <p:cNvPr id="228" name="Google Shape;228;p26"/>
          <p:cNvCxnSpPr>
            <a:cxnSpLocks/>
            <a:stCxn id="215" idx="3"/>
            <a:endCxn id="227" idx="1"/>
          </p:cNvCxnSpPr>
          <p:nvPr/>
        </p:nvCxnSpPr>
        <p:spPr>
          <a:xfrm>
            <a:off x="3860350" y="4069200"/>
            <a:ext cx="711600" cy="0"/>
          </a:xfrm>
          <a:prstGeom prst="straightConnector1">
            <a:avLst/>
          </a:prstGeom>
          <a:noFill/>
          <a:ln w="28575" cap="flat" cmpd="sng">
            <a:solidFill>
              <a:schemeClr val="dk2"/>
            </a:solidFill>
            <a:prstDash val="solid"/>
            <a:round/>
            <a:headEnd type="none" w="med" len="med"/>
            <a:tailEnd type="triangle" w="med" len="med"/>
          </a:ln>
        </p:spPr>
      </p:cxnSp>
      <p:sp>
        <p:nvSpPr>
          <p:cNvPr id="229" name="Google Shape;229;p26"/>
          <p:cNvSpPr txBox="1"/>
          <p:nvPr/>
        </p:nvSpPr>
        <p:spPr>
          <a:xfrm>
            <a:off x="4571949" y="4380650"/>
            <a:ext cx="4327119" cy="42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chemeClr val="dk1"/>
                </a:solidFill>
                <a:latin typeface="Lato Light"/>
                <a:ea typeface="Lato Light"/>
                <a:cs typeface="Lato Light"/>
                <a:sym typeface="Lato Light"/>
              </a:rPr>
              <a:t>away, run, one, maybe, time, wish, would</a:t>
            </a:r>
            <a:endParaRPr sz="1800" dirty="0">
              <a:solidFill>
                <a:schemeClr val="dk1"/>
              </a:solidFill>
              <a:latin typeface="Lato Light"/>
              <a:ea typeface="Lato Light"/>
              <a:cs typeface="Lato Light"/>
              <a:sym typeface="Lato Light"/>
            </a:endParaRPr>
          </a:p>
        </p:txBody>
      </p:sp>
      <p:cxnSp>
        <p:nvCxnSpPr>
          <p:cNvPr id="230" name="Google Shape;230;p26"/>
          <p:cNvCxnSpPr>
            <a:cxnSpLocks/>
            <a:endCxn id="229" idx="1"/>
          </p:cNvCxnSpPr>
          <p:nvPr/>
        </p:nvCxnSpPr>
        <p:spPr>
          <a:xfrm>
            <a:off x="3860350" y="4592900"/>
            <a:ext cx="711599" cy="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7"/>
          <p:cNvSpPr txBox="1">
            <a:spLocks noGrp="1"/>
          </p:cNvSpPr>
          <p:nvPr>
            <p:ph type="title"/>
          </p:nvPr>
        </p:nvSpPr>
        <p:spPr>
          <a:xfrm>
            <a:off x="628650" y="2074644"/>
            <a:ext cx="7886700" cy="99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4500" b="1"/>
              <a:t>Data Analysis</a:t>
            </a:r>
            <a:endParaRPr sz="4500" b="1"/>
          </a:p>
        </p:txBody>
      </p:sp>
      <p:cxnSp>
        <p:nvCxnSpPr>
          <p:cNvPr id="236" name="Google Shape;236;p27"/>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237" name="Google Shape;237;p27"/>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p28"/>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Final Dataset</a:t>
            </a:r>
            <a:endParaRPr/>
          </a:p>
        </p:txBody>
      </p:sp>
      <p:sp>
        <p:nvSpPr>
          <p:cNvPr id="243" name="Google Shape;243;p28"/>
          <p:cNvSpPr txBox="1">
            <a:spLocks noGrp="1"/>
          </p:cNvSpPr>
          <p:nvPr>
            <p:ph type="body" idx="1"/>
          </p:nvPr>
        </p:nvSpPr>
        <p:spPr>
          <a:xfrm>
            <a:off x="1359878" y="1369219"/>
            <a:ext cx="7155600" cy="3263400"/>
          </a:xfrm>
          <a:prstGeom prst="rect">
            <a:avLst/>
          </a:prstGeom>
        </p:spPr>
        <p:txBody>
          <a:bodyPr spcFirstLastPara="1" wrap="square" lIns="68575" tIns="34275" rIns="68575" bIns="34275" anchor="t" anchorCtr="0">
            <a:noAutofit/>
          </a:bodyPr>
          <a:lstStyle/>
          <a:p>
            <a:pPr marL="457200" lvl="0" indent="-317500" algn="l" rtl="0">
              <a:lnSpc>
                <a:spcPct val="115000"/>
              </a:lnSpc>
              <a:spcBef>
                <a:spcPts val="800"/>
              </a:spcBef>
              <a:spcAft>
                <a:spcPts val="0"/>
              </a:spcAft>
              <a:buSzPts val="1400"/>
              <a:buChar char="●"/>
            </a:pPr>
            <a:r>
              <a:rPr lang="en"/>
              <a:t>5,395 songs (unique combinations of titles and artists)</a:t>
            </a:r>
            <a:endParaRPr/>
          </a:p>
          <a:p>
            <a:pPr marL="457200" lvl="0" indent="-317500" algn="l" rtl="0">
              <a:lnSpc>
                <a:spcPct val="115000"/>
              </a:lnSpc>
              <a:spcBef>
                <a:spcPts val="0"/>
              </a:spcBef>
              <a:spcAft>
                <a:spcPts val="0"/>
              </a:spcAft>
              <a:buSzPts val="1400"/>
              <a:buChar char="●"/>
            </a:pPr>
            <a:r>
              <a:rPr lang="en"/>
              <a:t>Response variable: “view_count”</a:t>
            </a:r>
            <a:endParaRPr/>
          </a:p>
          <a:p>
            <a:pPr marL="457200" lvl="0" indent="-317500" algn="l" rtl="0">
              <a:lnSpc>
                <a:spcPct val="115000"/>
              </a:lnSpc>
              <a:spcBef>
                <a:spcPts val="0"/>
              </a:spcBef>
              <a:spcAft>
                <a:spcPts val="0"/>
              </a:spcAft>
              <a:buSzPts val="1400"/>
              <a:buChar char="●"/>
            </a:pPr>
            <a:r>
              <a:rPr lang="en"/>
              <a:t>60 predictor variables</a:t>
            </a:r>
            <a:endParaRPr/>
          </a:p>
          <a:p>
            <a:pPr marL="914400" lvl="1" indent="-317500" algn="l" rtl="0">
              <a:lnSpc>
                <a:spcPct val="115000"/>
              </a:lnSpc>
              <a:spcBef>
                <a:spcPts val="0"/>
              </a:spcBef>
              <a:spcAft>
                <a:spcPts val="0"/>
              </a:spcAft>
              <a:buSzPts val="1400"/>
              <a:buChar char="○"/>
            </a:pPr>
            <a:r>
              <a:rPr lang="en"/>
              <a:t>23 audio features, 17 artist features</a:t>
            </a:r>
            <a:endParaRPr/>
          </a:p>
          <a:p>
            <a:pPr marL="914400" lvl="1" indent="-317500" algn="l" rtl="0">
              <a:lnSpc>
                <a:spcPct val="115000"/>
              </a:lnSpc>
              <a:spcBef>
                <a:spcPts val="0"/>
              </a:spcBef>
              <a:spcAft>
                <a:spcPts val="0"/>
              </a:spcAft>
              <a:buSzPts val="1400"/>
              <a:buChar char="○"/>
            </a:pPr>
            <a:r>
              <a:rPr lang="en"/>
              <a:t>29 dummy indicators for country, type, and genre predictors</a:t>
            </a:r>
            <a:endParaRPr/>
          </a:p>
          <a:p>
            <a:pPr marL="914400" lvl="1" indent="-317500" algn="l" rtl="0">
              <a:lnSpc>
                <a:spcPct val="115000"/>
              </a:lnSpc>
              <a:spcBef>
                <a:spcPts val="0"/>
              </a:spcBef>
              <a:spcAft>
                <a:spcPts val="0"/>
              </a:spcAft>
              <a:buSzPts val="1400"/>
              <a:buChar char="○"/>
            </a:pPr>
            <a:r>
              <a:rPr lang="en" sz="1800"/>
              <a:t>8 sentiment features</a:t>
            </a:r>
            <a:endParaRPr/>
          </a:p>
          <a:p>
            <a:pPr marL="914400" lvl="1" indent="-317500" algn="l" rtl="0">
              <a:lnSpc>
                <a:spcPct val="115000"/>
              </a:lnSpc>
              <a:spcBef>
                <a:spcPts val="0"/>
              </a:spcBef>
              <a:spcAft>
                <a:spcPts val="0"/>
              </a:spcAft>
              <a:buSzPts val="1400"/>
              <a:buChar char="○"/>
            </a:pPr>
            <a:r>
              <a:rPr lang="en" sz="1800"/>
              <a:t>5 lexical features</a:t>
            </a:r>
            <a:endParaRPr/>
          </a:p>
          <a:p>
            <a:pPr marL="914400" lvl="1" indent="-317500" algn="l" rtl="0">
              <a:lnSpc>
                <a:spcPct val="115000"/>
              </a:lnSpc>
              <a:spcBef>
                <a:spcPts val="0"/>
              </a:spcBef>
              <a:spcAft>
                <a:spcPts val="0"/>
              </a:spcAft>
              <a:buSzPts val="1400"/>
              <a:buChar char="○"/>
            </a:pPr>
            <a:r>
              <a:rPr lang="en" sz="1800"/>
              <a:t>7 lyrics topics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9"/>
          <p:cNvSpPr txBox="1">
            <a:spLocks noGrp="1"/>
          </p:cNvSpPr>
          <p:nvPr>
            <p:ph type="title"/>
          </p:nvPr>
        </p:nvSpPr>
        <p:spPr>
          <a:xfrm>
            <a:off x="514350" y="273850"/>
            <a:ext cx="81153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Summary - Audio/Lexical Features</a:t>
            </a:r>
            <a:endParaRPr/>
          </a:p>
        </p:txBody>
      </p:sp>
      <p:pic>
        <p:nvPicPr>
          <p:cNvPr id="249" name="Google Shape;249;p29" title="summary_table.png"/>
          <p:cNvPicPr preferRelativeResize="0"/>
          <p:nvPr/>
        </p:nvPicPr>
        <p:blipFill rotWithShape="1">
          <a:blip r:embed="rId3">
            <a:alphaModFix/>
          </a:blip>
          <a:srcRect t="24175" r="3633" b="25003"/>
          <a:stretch/>
        </p:blipFill>
        <p:spPr>
          <a:xfrm>
            <a:off x="329450" y="1268050"/>
            <a:ext cx="8485100" cy="3432474"/>
          </a:xfrm>
          <a:prstGeom prst="rect">
            <a:avLst/>
          </a:prstGeom>
          <a:noFill/>
          <a:ln>
            <a:noFill/>
          </a:ln>
        </p:spPr>
      </p:pic>
      <p:sp>
        <p:nvSpPr>
          <p:cNvPr id="250" name="Google Shape;250;p29"/>
          <p:cNvSpPr/>
          <p:nvPr/>
        </p:nvSpPr>
        <p:spPr>
          <a:xfrm>
            <a:off x="422200" y="3117925"/>
            <a:ext cx="8232600" cy="4365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251" name="Google Shape;251;p29"/>
          <p:cNvSpPr/>
          <p:nvPr/>
        </p:nvSpPr>
        <p:spPr>
          <a:xfrm>
            <a:off x="422200" y="4189600"/>
            <a:ext cx="8232600" cy="4365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Summary - Text Mining Features</a:t>
            </a:r>
            <a:endParaRPr/>
          </a:p>
        </p:txBody>
      </p:sp>
      <p:pic>
        <p:nvPicPr>
          <p:cNvPr id="257" name="Google Shape;257;p30" title="text_feature_summary_table.png"/>
          <p:cNvPicPr preferRelativeResize="0"/>
          <p:nvPr/>
        </p:nvPicPr>
        <p:blipFill rotWithShape="1">
          <a:blip r:embed="rId3">
            <a:alphaModFix/>
          </a:blip>
          <a:srcRect t="23201" r="7868" b="23388"/>
          <a:stretch/>
        </p:blipFill>
        <p:spPr>
          <a:xfrm>
            <a:off x="266975" y="1115375"/>
            <a:ext cx="8611123" cy="3765901"/>
          </a:xfrm>
          <a:prstGeom prst="rect">
            <a:avLst/>
          </a:prstGeom>
          <a:noFill/>
          <a:ln>
            <a:noFill/>
          </a:ln>
        </p:spPr>
      </p:pic>
      <p:sp>
        <p:nvSpPr>
          <p:cNvPr id="258" name="Google Shape;258;p30"/>
          <p:cNvSpPr/>
          <p:nvPr/>
        </p:nvSpPr>
        <p:spPr>
          <a:xfrm>
            <a:off x="351050" y="3199725"/>
            <a:ext cx="8446800" cy="3972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259" name="Google Shape;259;p30"/>
          <p:cNvSpPr/>
          <p:nvPr/>
        </p:nvSpPr>
        <p:spPr>
          <a:xfrm>
            <a:off x="348600" y="3997175"/>
            <a:ext cx="8446800" cy="1947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Summary - Binary Features</a:t>
            </a:r>
            <a:endParaRPr/>
          </a:p>
        </p:txBody>
      </p:sp>
      <p:pic>
        <p:nvPicPr>
          <p:cNvPr id="265" name="Google Shape;265;p31" title="binary_summary_table.png"/>
          <p:cNvPicPr preferRelativeResize="0"/>
          <p:nvPr/>
        </p:nvPicPr>
        <p:blipFill rotWithShape="1">
          <a:blip r:embed="rId3">
            <a:alphaModFix/>
          </a:blip>
          <a:srcRect l="10747" t="20934" r="24628" b="48978"/>
          <a:stretch/>
        </p:blipFill>
        <p:spPr>
          <a:xfrm>
            <a:off x="292325" y="1276825"/>
            <a:ext cx="4130100" cy="2796652"/>
          </a:xfrm>
          <a:prstGeom prst="rect">
            <a:avLst/>
          </a:prstGeom>
          <a:noFill/>
          <a:ln>
            <a:noFill/>
          </a:ln>
        </p:spPr>
      </p:pic>
      <p:grpSp>
        <p:nvGrpSpPr>
          <p:cNvPr id="266" name="Google Shape;266;p31"/>
          <p:cNvGrpSpPr/>
          <p:nvPr/>
        </p:nvGrpSpPr>
        <p:grpSpPr>
          <a:xfrm>
            <a:off x="4710616" y="1268051"/>
            <a:ext cx="4130110" cy="2821382"/>
            <a:chOff x="4514200" y="1427450"/>
            <a:chExt cx="3791178" cy="2589850"/>
          </a:xfrm>
        </p:grpSpPr>
        <p:pic>
          <p:nvPicPr>
            <p:cNvPr id="267" name="Google Shape;267;p31" title="binary_summary_table.png"/>
            <p:cNvPicPr preferRelativeResize="0"/>
            <p:nvPr/>
          </p:nvPicPr>
          <p:blipFill rotWithShape="1">
            <a:blip r:embed="rId3">
              <a:alphaModFix/>
            </a:blip>
            <a:srcRect l="10747" t="20934" r="24628" b="48713"/>
            <a:stretch/>
          </p:blipFill>
          <p:spPr>
            <a:xfrm>
              <a:off x="4514200" y="1427450"/>
              <a:ext cx="3791174" cy="2589850"/>
            </a:xfrm>
            <a:prstGeom prst="rect">
              <a:avLst/>
            </a:prstGeom>
            <a:noFill/>
            <a:ln>
              <a:noFill/>
            </a:ln>
          </p:spPr>
        </p:pic>
        <p:pic>
          <p:nvPicPr>
            <p:cNvPr id="268" name="Google Shape;268;p31" title="binary_summary_table.png"/>
            <p:cNvPicPr preferRelativeResize="0"/>
            <p:nvPr/>
          </p:nvPicPr>
          <p:blipFill rotWithShape="1">
            <a:blip r:embed="rId3">
              <a:alphaModFix/>
            </a:blip>
            <a:srcRect l="10747" t="50988" r="24628" b="21347"/>
            <a:stretch/>
          </p:blipFill>
          <p:spPr>
            <a:xfrm>
              <a:off x="4514208" y="1656818"/>
              <a:ext cx="3791170" cy="2360474"/>
            </a:xfrm>
            <a:prstGeom prst="rect">
              <a:avLst/>
            </a:prstGeom>
            <a:noFill/>
            <a:ln>
              <a:noFill/>
            </a:ln>
          </p:spPr>
        </p:pic>
      </p:grpSp>
      <p:sp>
        <p:nvSpPr>
          <p:cNvPr id="269" name="Google Shape;269;p31"/>
          <p:cNvSpPr/>
          <p:nvPr/>
        </p:nvSpPr>
        <p:spPr>
          <a:xfrm>
            <a:off x="348600" y="2440300"/>
            <a:ext cx="4038900" cy="1848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270" name="Google Shape;270;p31"/>
          <p:cNvSpPr/>
          <p:nvPr/>
        </p:nvSpPr>
        <p:spPr>
          <a:xfrm>
            <a:off x="4767625" y="3506275"/>
            <a:ext cx="4038900" cy="1848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271" name="Google Shape;271;p31"/>
          <p:cNvSpPr/>
          <p:nvPr/>
        </p:nvSpPr>
        <p:spPr>
          <a:xfrm>
            <a:off x="4767625" y="2778925"/>
            <a:ext cx="4038900" cy="3624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Summary - Discrete Features</a:t>
            </a:r>
            <a:endParaRPr/>
          </a:p>
        </p:txBody>
      </p:sp>
      <p:sp>
        <p:nvSpPr>
          <p:cNvPr id="277" name="Google Shape;277;p32"/>
          <p:cNvSpPr txBox="1">
            <a:spLocks noGrp="1"/>
          </p:cNvSpPr>
          <p:nvPr>
            <p:ph type="body" idx="1"/>
          </p:nvPr>
        </p:nvSpPr>
        <p:spPr>
          <a:xfrm>
            <a:off x="628775" y="3477473"/>
            <a:ext cx="7886700" cy="1040700"/>
          </a:xfrm>
          <a:prstGeom prst="rect">
            <a:avLst/>
          </a:prstGeom>
        </p:spPr>
        <p:txBody>
          <a:bodyPr spcFirstLastPara="1" wrap="square" lIns="68575" tIns="34275" rIns="68575" bIns="34275" anchor="t" anchorCtr="0">
            <a:normAutofit/>
          </a:bodyPr>
          <a:lstStyle/>
          <a:p>
            <a:pPr marL="457200" lvl="0" indent="-338296" algn="l" rtl="0">
              <a:lnSpc>
                <a:spcPct val="115000"/>
              </a:lnSpc>
              <a:spcBef>
                <a:spcPts val="800"/>
              </a:spcBef>
              <a:spcAft>
                <a:spcPts val="0"/>
              </a:spcAft>
              <a:buSzPts val="1728"/>
              <a:buChar char="●"/>
            </a:pPr>
            <a:r>
              <a:rPr lang="en" sz="1727"/>
              <a:t>Note: title, lyrics, and artist are not shown in this table, as there is very little repetition between observations</a:t>
            </a:r>
            <a:endParaRPr sz="1727"/>
          </a:p>
          <a:p>
            <a:pPr marL="914400" lvl="1" indent="-338296" algn="l" rtl="0">
              <a:lnSpc>
                <a:spcPct val="115000"/>
              </a:lnSpc>
              <a:spcBef>
                <a:spcPts val="0"/>
              </a:spcBef>
              <a:spcAft>
                <a:spcPts val="0"/>
              </a:spcAft>
              <a:buSzPts val="1728"/>
              <a:buChar char="○"/>
            </a:pPr>
            <a:r>
              <a:rPr lang="en" sz="1727"/>
              <a:t>For all, N = 5,395 and missing = 0</a:t>
            </a:r>
            <a:endParaRPr sz="1727"/>
          </a:p>
        </p:txBody>
      </p:sp>
      <p:pic>
        <p:nvPicPr>
          <p:cNvPr id="278" name="Google Shape;278;p32" title="categorical_summary_table.png"/>
          <p:cNvPicPr preferRelativeResize="0"/>
          <p:nvPr/>
        </p:nvPicPr>
        <p:blipFill rotWithShape="1">
          <a:blip r:embed="rId3">
            <a:alphaModFix/>
          </a:blip>
          <a:srcRect t="35608" r="6576" b="37584"/>
          <a:stretch/>
        </p:blipFill>
        <p:spPr>
          <a:xfrm>
            <a:off x="383575" y="1280750"/>
            <a:ext cx="8415749" cy="9433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Distribution of Song Word Count </a:t>
            </a:r>
            <a:endParaRPr/>
          </a:p>
        </p:txBody>
      </p:sp>
      <p:pic>
        <p:nvPicPr>
          <p:cNvPr id="284" name="Google Shape;284;p33"/>
          <p:cNvPicPr preferRelativeResize="0"/>
          <p:nvPr/>
        </p:nvPicPr>
        <p:blipFill rotWithShape="1">
          <a:blip r:embed="rId3">
            <a:alphaModFix/>
          </a:blip>
          <a:srcRect t="-320" b="320"/>
          <a:stretch/>
        </p:blipFill>
        <p:spPr>
          <a:xfrm>
            <a:off x="1808475" y="1256226"/>
            <a:ext cx="5527049" cy="3661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Top Song-producing Artists</a:t>
            </a:r>
            <a:endParaRPr/>
          </a:p>
        </p:txBody>
      </p:sp>
      <p:pic>
        <p:nvPicPr>
          <p:cNvPr id="290" name="Google Shape;290;p34"/>
          <p:cNvPicPr preferRelativeResize="0"/>
          <p:nvPr/>
        </p:nvPicPr>
        <p:blipFill>
          <a:blip r:embed="rId3">
            <a:alphaModFix/>
          </a:blip>
          <a:stretch>
            <a:fillRect/>
          </a:stretch>
        </p:blipFill>
        <p:spPr>
          <a:xfrm>
            <a:off x="1748898" y="1268048"/>
            <a:ext cx="5646200" cy="3543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Top Artists by Average YouTube Views</a:t>
            </a:r>
            <a:endParaRPr/>
          </a:p>
        </p:txBody>
      </p:sp>
      <p:pic>
        <p:nvPicPr>
          <p:cNvPr id="296" name="Google Shape;296;p35"/>
          <p:cNvPicPr preferRelativeResize="0"/>
          <p:nvPr/>
        </p:nvPicPr>
        <p:blipFill>
          <a:blip r:embed="rId3">
            <a:alphaModFix/>
          </a:blip>
          <a:stretch>
            <a:fillRect/>
          </a:stretch>
        </p:blipFill>
        <p:spPr>
          <a:xfrm>
            <a:off x="1823300" y="1268050"/>
            <a:ext cx="5497401" cy="3651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6"/>
          <p:cNvSpPr txBox="1">
            <a:spLocks noGrp="1"/>
          </p:cNvSpPr>
          <p:nvPr>
            <p:ph type="title"/>
          </p:nvPr>
        </p:nvSpPr>
        <p:spPr>
          <a:xfrm>
            <a:off x="628650" y="273850"/>
            <a:ext cx="2802600" cy="22260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Correlation Heatmap of Audio Features</a:t>
            </a:r>
            <a:endParaRPr/>
          </a:p>
        </p:txBody>
      </p:sp>
      <p:pic>
        <p:nvPicPr>
          <p:cNvPr id="302" name="Google Shape;302;p36"/>
          <p:cNvPicPr preferRelativeResize="0"/>
          <p:nvPr/>
        </p:nvPicPr>
        <p:blipFill rotWithShape="1">
          <a:blip r:embed="rId3">
            <a:alphaModFix/>
          </a:blip>
          <a:srcRect l="1055" t="3642" r="1221" b="1245"/>
          <a:stretch/>
        </p:blipFill>
        <p:spPr>
          <a:xfrm>
            <a:off x="3532825" y="222938"/>
            <a:ext cx="5397499" cy="4697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Lyrics Word Cloud</a:t>
            </a:r>
            <a:endParaRPr/>
          </a:p>
        </p:txBody>
      </p:sp>
      <p:pic>
        <p:nvPicPr>
          <p:cNvPr id="308" name="Google Shape;308;p37"/>
          <p:cNvPicPr preferRelativeResize="0"/>
          <p:nvPr/>
        </p:nvPicPr>
        <p:blipFill rotWithShape="1">
          <a:blip r:embed="rId3">
            <a:alphaModFix/>
          </a:blip>
          <a:srcRect t="329" b="-330"/>
          <a:stretch/>
        </p:blipFill>
        <p:spPr>
          <a:xfrm>
            <a:off x="1074963" y="1268044"/>
            <a:ext cx="6994069" cy="3570656"/>
          </a:xfrm>
          <a:prstGeom prst="rect">
            <a:avLst/>
          </a:prstGeom>
          <a:noFill/>
          <a:ln w="19050" cap="flat" cmpd="sng">
            <a:solidFill>
              <a:schemeClr val="dk1"/>
            </a:solidFill>
            <a:prstDash val="solid"/>
            <a:round/>
            <a:headEnd type="none" w="sm" len="sm"/>
            <a:tailEnd type="none" w="sm" len="sm"/>
          </a:ln>
        </p:spPr>
      </p:pic>
      <p:sp>
        <p:nvSpPr>
          <p:cNvPr id="309" name="Google Shape;309;p37"/>
          <p:cNvSpPr/>
          <p:nvPr/>
        </p:nvSpPr>
        <p:spPr>
          <a:xfrm>
            <a:off x="2496875" y="2711876"/>
            <a:ext cx="934200" cy="354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FD966"/>
                </a:solidFill>
                <a:latin typeface="Lato"/>
                <a:ea typeface="Lato"/>
                <a:cs typeface="Lato"/>
                <a:sym typeface="Lato"/>
              </a:rPr>
              <a:t>s***</a:t>
            </a:r>
            <a:endParaRPr sz="3000" b="1">
              <a:solidFill>
                <a:srgbClr val="FFD966"/>
              </a:solidFill>
              <a:latin typeface="Lato"/>
              <a:ea typeface="Lato"/>
              <a:cs typeface="Lato"/>
              <a:sym typeface="Lato"/>
            </a:endParaRPr>
          </a:p>
        </p:txBody>
      </p:sp>
      <p:sp>
        <p:nvSpPr>
          <p:cNvPr id="310" name="Google Shape;310;p37"/>
          <p:cNvSpPr/>
          <p:nvPr/>
        </p:nvSpPr>
        <p:spPr>
          <a:xfrm>
            <a:off x="3631975" y="2605475"/>
            <a:ext cx="484800" cy="1827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rgbClr val="93C47D"/>
                </a:solidFill>
                <a:latin typeface="Lato"/>
                <a:ea typeface="Lato"/>
                <a:cs typeface="Lato"/>
                <a:sym typeface="Lato"/>
              </a:rPr>
              <a:t>f***</a:t>
            </a:r>
            <a:endParaRPr sz="1500" b="1">
              <a:solidFill>
                <a:srgbClr val="93C47D"/>
              </a:solidFill>
              <a:latin typeface="Lato"/>
              <a:ea typeface="Lato"/>
              <a:cs typeface="Lato"/>
              <a:sym typeface="Lato"/>
            </a:endParaRPr>
          </a:p>
        </p:txBody>
      </p:sp>
      <p:sp>
        <p:nvSpPr>
          <p:cNvPr id="311" name="Google Shape;311;p37"/>
          <p:cNvSpPr/>
          <p:nvPr/>
        </p:nvSpPr>
        <p:spPr>
          <a:xfrm>
            <a:off x="1219250" y="3836675"/>
            <a:ext cx="1541100" cy="4320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400" b="1">
                <a:solidFill>
                  <a:srgbClr val="45818E"/>
                </a:solidFill>
                <a:latin typeface="Lato"/>
                <a:ea typeface="Lato"/>
                <a:cs typeface="Lato"/>
                <a:sym typeface="Lato"/>
              </a:rPr>
              <a:t>b****</a:t>
            </a:r>
            <a:endParaRPr sz="3400" b="1">
              <a:solidFill>
                <a:srgbClr val="45818E"/>
              </a:solidFill>
              <a:latin typeface="Lato"/>
              <a:ea typeface="Lato"/>
              <a:cs typeface="Lato"/>
              <a:sym typeface="Lato"/>
            </a:endParaRPr>
          </a:p>
        </p:txBody>
      </p:sp>
      <p:sp>
        <p:nvSpPr>
          <p:cNvPr id="312" name="Google Shape;312;p37"/>
          <p:cNvSpPr/>
          <p:nvPr/>
        </p:nvSpPr>
        <p:spPr>
          <a:xfrm>
            <a:off x="5559400" y="3442075"/>
            <a:ext cx="369000" cy="101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Lato Light"/>
                <a:ea typeface="Lato Light"/>
                <a:cs typeface="Lato Light"/>
                <a:sym typeface="Lato Light"/>
              </a:rPr>
              <a:t>f*****</a:t>
            </a:r>
            <a:endParaRPr sz="600">
              <a:latin typeface="Lato Light"/>
              <a:ea typeface="Lato Light"/>
              <a:cs typeface="Lato Light"/>
              <a:sym typeface="Lato Light"/>
            </a:endParaRPr>
          </a:p>
        </p:txBody>
      </p:sp>
      <p:sp>
        <p:nvSpPr>
          <p:cNvPr id="313" name="Google Shape;313;p37"/>
          <p:cNvSpPr/>
          <p:nvPr/>
        </p:nvSpPr>
        <p:spPr>
          <a:xfrm>
            <a:off x="3843475" y="3581950"/>
            <a:ext cx="3892500" cy="787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500" b="1">
                <a:solidFill>
                  <a:srgbClr val="674EA7"/>
                </a:solidFill>
                <a:latin typeface="Lato"/>
                <a:ea typeface="Lato"/>
                <a:cs typeface="Lato"/>
                <a:sym typeface="Lato"/>
              </a:rPr>
              <a:t>n****</a:t>
            </a:r>
            <a:endParaRPr sz="7500" b="1">
              <a:solidFill>
                <a:srgbClr val="674EA7"/>
              </a:solidFill>
              <a:latin typeface="Lato"/>
              <a:ea typeface="Lato"/>
              <a:cs typeface="Lato"/>
              <a:sym typeface="Lato"/>
            </a:endParaRPr>
          </a:p>
        </p:txBody>
      </p:sp>
      <p:sp>
        <p:nvSpPr>
          <p:cNvPr id="314" name="Google Shape;314;p37"/>
          <p:cNvSpPr/>
          <p:nvPr/>
        </p:nvSpPr>
        <p:spPr>
          <a:xfrm>
            <a:off x="5387543" y="4329950"/>
            <a:ext cx="1593000" cy="4320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8"/>
          <p:cNvSpPr txBox="1">
            <a:spLocks noGrp="1"/>
          </p:cNvSpPr>
          <p:nvPr>
            <p:ph type="ctrTitle"/>
          </p:nvPr>
        </p:nvSpPr>
        <p:spPr>
          <a:xfrm>
            <a:off x="1143000" y="2216803"/>
            <a:ext cx="6858000" cy="1126200"/>
          </a:xfrm>
          <a:prstGeom prst="rect">
            <a:avLst/>
          </a:prstGeom>
        </p:spPr>
        <p:txBody>
          <a:bodyPr spcFirstLastPara="1" wrap="square" lIns="68575" tIns="34275" rIns="68575" bIns="34275" anchor="b" anchorCtr="0">
            <a:normAutofit fontScale="90000"/>
          </a:bodyPr>
          <a:lstStyle/>
          <a:p>
            <a:pPr marL="0" lvl="0" indent="0" algn="ctr" rtl="0">
              <a:spcBef>
                <a:spcPts val="0"/>
              </a:spcBef>
              <a:spcAft>
                <a:spcPts val="0"/>
              </a:spcAft>
              <a:buNone/>
            </a:pPr>
            <a:r>
              <a:rPr lang="en" sz="4500" b="1"/>
              <a:t>Model Building &amp; Evaluation</a:t>
            </a:r>
            <a:endParaRPr sz="4500" b="1"/>
          </a:p>
        </p:txBody>
      </p:sp>
      <p:cxnSp>
        <p:nvCxnSpPr>
          <p:cNvPr id="320" name="Google Shape;320;p38"/>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321" name="Google Shape;321;p38"/>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p:sp>
        <p:nvSpPr>
          <p:cNvPr id="326" name="Google Shape;326;p39"/>
          <p:cNvSpPr/>
          <p:nvPr/>
        </p:nvSpPr>
        <p:spPr>
          <a:xfrm>
            <a:off x="2136150" y="4284500"/>
            <a:ext cx="6727800" cy="735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327" name="Google Shape;327;p39"/>
          <p:cNvSpPr txBox="1">
            <a:spLocks noGrp="1"/>
          </p:cNvSpPr>
          <p:nvPr>
            <p:ph type="title"/>
          </p:nvPr>
        </p:nvSpPr>
        <p:spPr>
          <a:xfrm>
            <a:off x="448150" y="575950"/>
            <a:ext cx="8273700" cy="6354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a:t>Standard Practices</a:t>
            </a:r>
            <a:endParaRPr/>
          </a:p>
        </p:txBody>
      </p:sp>
      <p:sp>
        <p:nvSpPr>
          <p:cNvPr id="328" name="Google Shape;328;p39"/>
          <p:cNvSpPr txBox="1">
            <a:spLocks noGrp="1"/>
          </p:cNvSpPr>
          <p:nvPr>
            <p:ph type="body" idx="1"/>
          </p:nvPr>
        </p:nvSpPr>
        <p:spPr>
          <a:xfrm>
            <a:off x="435150" y="1211350"/>
            <a:ext cx="8273700" cy="3687900"/>
          </a:xfrm>
          <a:prstGeom prst="rect">
            <a:avLst/>
          </a:prstGeom>
        </p:spPr>
        <p:txBody>
          <a:bodyPr spcFirstLastPara="1" wrap="square" lIns="68575" tIns="34275" rIns="68575" bIns="34275" anchor="t" anchorCtr="0">
            <a:noAutofit/>
          </a:bodyPr>
          <a:lstStyle/>
          <a:p>
            <a:pPr marL="457200" lvl="0" indent="-342900" algn="l" rtl="0">
              <a:lnSpc>
                <a:spcPct val="150000"/>
              </a:lnSpc>
              <a:spcBef>
                <a:spcPts val="800"/>
              </a:spcBef>
              <a:spcAft>
                <a:spcPts val="0"/>
              </a:spcAft>
              <a:buSzPts val="1800"/>
              <a:buChar char="●"/>
            </a:pPr>
            <a:r>
              <a:rPr lang="en" sz="1800" b="1">
                <a:latin typeface="Lato"/>
                <a:ea typeface="Lato"/>
                <a:cs typeface="Lato"/>
                <a:sym typeface="Lato"/>
              </a:rPr>
              <a:t>Split</a:t>
            </a:r>
            <a:r>
              <a:rPr lang="en" sz="1800"/>
              <a:t>: 70% training &amp; 30% testing</a:t>
            </a:r>
            <a:endParaRPr sz="1800"/>
          </a:p>
          <a:p>
            <a:pPr marL="457200" lvl="0" indent="-342900" algn="l" rtl="0">
              <a:lnSpc>
                <a:spcPct val="150000"/>
              </a:lnSpc>
              <a:spcBef>
                <a:spcPts val="0"/>
              </a:spcBef>
              <a:spcAft>
                <a:spcPts val="0"/>
              </a:spcAft>
              <a:buSzPts val="1800"/>
              <a:buChar char="●"/>
            </a:pPr>
            <a:r>
              <a:rPr lang="en" sz="1800" b="1">
                <a:latin typeface="Lato"/>
                <a:ea typeface="Lato"/>
                <a:cs typeface="Lato"/>
                <a:sym typeface="Lato"/>
              </a:rPr>
              <a:t>Random State: </a:t>
            </a:r>
            <a:r>
              <a:rPr lang="en" sz="1800"/>
              <a:t>1234</a:t>
            </a:r>
            <a:endParaRPr sz="1800"/>
          </a:p>
          <a:p>
            <a:pPr marL="457200" lvl="0" indent="-342900" algn="l" rtl="0">
              <a:lnSpc>
                <a:spcPct val="150000"/>
              </a:lnSpc>
              <a:spcBef>
                <a:spcPts val="0"/>
              </a:spcBef>
              <a:spcAft>
                <a:spcPts val="0"/>
              </a:spcAft>
              <a:buSzPts val="1800"/>
              <a:buChar char="●"/>
            </a:pPr>
            <a:r>
              <a:rPr lang="en" sz="1800" b="1">
                <a:latin typeface="Lato"/>
                <a:ea typeface="Lato"/>
                <a:cs typeface="Lato"/>
                <a:sym typeface="Lato"/>
              </a:rPr>
              <a:t>Predictors: </a:t>
            </a:r>
            <a:r>
              <a:rPr lang="en" sz="1800"/>
              <a:t>23 audio features, 17 artist features, 8 sentiment features, 5 lexical features, 7 lyrics topics</a:t>
            </a:r>
            <a:endParaRPr sz="1800"/>
          </a:p>
          <a:p>
            <a:pPr marL="457200" lvl="0" indent="-342900" algn="l" rtl="0">
              <a:lnSpc>
                <a:spcPct val="150000"/>
              </a:lnSpc>
              <a:spcBef>
                <a:spcPts val="0"/>
              </a:spcBef>
              <a:spcAft>
                <a:spcPts val="0"/>
              </a:spcAft>
              <a:buSzPts val="1800"/>
              <a:buChar char="●"/>
            </a:pPr>
            <a:r>
              <a:rPr lang="en" sz="1800" b="1">
                <a:latin typeface="Lato"/>
                <a:ea typeface="Lato"/>
                <a:cs typeface="Lato"/>
                <a:sym typeface="Lato"/>
              </a:rPr>
              <a:t>Cross-validation:</a:t>
            </a:r>
            <a:r>
              <a:rPr lang="en" sz="1800"/>
              <a:t> 3 or 5 folds</a:t>
            </a:r>
            <a:endParaRPr sz="1800"/>
          </a:p>
          <a:p>
            <a:pPr marL="457200" lvl="0" indent="-342900" algn="l" rtl="0">
              <a:lnSpc>
                <a:spcPct val="150000"/>
              </a:lnSpc>
              <a:spcBef>
                <a:spcPts val="0"/>
              </a:spcBef>
              <a:spcAft>
                <a:spcPts val="0"/>
              </a:spcAft>
              <a:buSzPts val="1800"/>
              <a:buFont typeface="Lato"/>
              <a:buChar char="●"/>
            </a:pPr>
            <a:r>
              <a:rPr lang="en" sz="1800" b="1">
                <a:latin typeface="Lato"/>
                <a:ea typeface="Lato"/>
                <a:cs typeface="Lato"/>
                <a:sym typeface="Lato"/>
              </a:rPr>
              <a:t>Grid Search: </a:t>
            </a:r>
            <a:endParaRPr sz="1800" b="1">
              <a:latin typeface="Lato"/>
              <a:ea typeface="Lato"/>
              <a:cs typeface="Lato"/>
              <a:sym typeface="Lato"/>
            </a:endParaRPr>
          </a:p>
          <a:p>
            <a:pPr marL="914400" lvl="1" indent="-342900" algn="l" rtl="0">
              <a:lnSpc>
                <a:spcPct val="150000"/>
              </a:lnSpc>
              <a:spcBef>
                <a:spcPts val="0"/>
              </a:spcBef>
              <a:spcAft>
                <a:spcPts val="0"/>
              </a:spcAft>
              <a:buSzPts val="1800"/>
              <a:buChar char="○"/>
            </a:pPr>
            <a:r>
              <a:rPr lang="en" b="1">
                <a:latin typeface="Lato"/>
                <a:ea typeface="Lato"/>
                <a:cs typeface="Lato"/>
                <a:sym typeface="Lato"/>
              </a:rPr>
              <a:t>Trees</a:t>
            </a:r>
            <a:r>
              <a:rPr lang="en"/>
              <a:t>: </a:t>
            </a:r>
            <a:r>
              <a:rPr lang="en" sz="1800"/>
              <a:t>criterion, max_depth, min_samples_split, n_estimators,  min_samples_leaf, learning_rate, min_child_weight</a:t>
            </a:r>
            <a:endParaRPr/>
          </a:p>
          <a:p>
            <a:pPr marL="914400" lvl="1" indent="-342900" algn="l" rtl="0">
              <a:lnSpc>
                <a:spcPct val="150000"/>
              </a:lnSpc>
              <a:spcBef>
                <a:spcPts val="0"/>
              </a:spcBef>
              <a:spcAft>
                <a:spcPts val="0"/>
              </a:spcAft>
              <a:buSzPts val="1800"/>
              <a:buChar char="○"/>
            </a:pPr>
            <a:r>
              <a:rPr lang="en" b="1">
                <a:latin typeface="Lato"/>
                <a:ea typeface="Lato"/>
                <a:cs typeface="Lato"/>
                <a:sym typeface="Lato"/>
              </a:rPr>
              <a:t>SVR</a:t>
            </a:r>
            <a:r>
              <a:rPr lang="en"/>
              <a:t>: </a:t>
            </a:r>
            <a:r>
              <a:rPr lang="en" sz="1800"/>
              <a:t>C, epsilon , gamma</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2"/>
        <p:cNvGrpSpPr/>
        <p:nvPr/>
      </p:nvGrpSpPr>
      <p:grpSpPr>
        <a:xfrm>
          <a:off x="0" y="0"/>
          <a:ext cx="0" cy="0"/>
          <a:chOff x="0" y="0"/>
          <a:chExt cx="0" cy="0"/>
        </a:xfrm>
      </p:grpSpPr>
      <p:sp>
        <p:nvSpPr>
          <p:cNvPr id="333" name="Google Shape;333;p40"/>
          <p:cNvSpPr/>
          <p:nvPr/>
        </p:nvSpPr>
        <p:spPr>
          <a:xfrm>
            <a:off x="2136150" y="4284500"/>
            <a:ext cx="6727800" cy="735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
        <p:nvSpPr>
          <p:cNvPr id="334" name="Google Shape;334;p40"/>
          <p:cNvSpPr txBox="1">
            <a:spLocks noGrp="1"/>
          </p:cNvSpPr>
          <p:nvPr>
            <p:ph type="title"/>
          </p:nvPr>
        </p:nvSpPr>
        <p:spPr>
          <a:xfrm>
            <a:off x="448150" y="575950"/>
            <a:ext cx="8273700" cy="6354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a:t>Response</a:t>
            </a:r>
            <a:endParaRPr/>
          </a:p>
        </p:txBody>
      </p:sp>
      <p:sp>
        <p:nvSpPr>
          <p:cNvPr id="335" name="Google Shape;335;p40"/>
          <p:cNvSpPr txBox="1">
            <a:spLocks noGrp="1"/>
          </p:cNvSpPr>
          <p:nvPr>
            <p:ph type="body" idx="1"/>
          </p:nvPr>
        </p:nvSpPr>
        <p:spPr>
          <a:xfrm>
            <a:off x="435150" y="1211350"/>
            <a:ext cx="8273700" cy="3687900"/>
          </a:xfrm>
          <a:prstGeom prst="rect">
            <a:avLst/>
          </a:prstGeom>
        </p:spPr>
        <p:txBody>
          <a:bodyPr spcFirstLastPara="1" wrap="square" lIns="68575" tIns="34275" rIns="68575" bIns="34275" anchor="t" anchorCtr="0">
            <a:noAutofit/>
          </a:bodyPr>
          <a:lstStyle/>
          <a:p>
            <a:pPr marL="457200" lvl="0" indent="-355600" algn="l" rtl="0">
              <a:lnSpc>
                <a:spcPct val="150000"/>
              </a:lnSpc>
              <a:spcBef>
                <a:spcPts val="800"/>
              </a:spcBef>
              <a:spcAft>
                <a:spcPts val="0"/>
              </a:spcAft>
              <a:buSzPts val="2000"/>
              <a:buChar char="●"/>
            </a:pPr>
            <a:r>
              <a:rPr lang="en" sz="2000" b="1">
                <a:latin typeface="Lato"/>
                <a:ea typeface="Lato"/>
                <a:cs typeface="Lato"/>
                <a:sym typeface="Lato"/>
              </a:rPr>
              <a:t>Continuous</a:t>
            </a:r>
            <a:r>
              <a:rPr lang="en" sz="2000"/>
              <a:t>: view_count</a:t>
            </a:r>
            <a:endParaRPr sz="2000"/>
          </a:p>
          <a:p>
            <a:pPr marL="914400" lvl="1" indent="-355600" algn="l" rtl="0">
              <a:lnSpc>
                <a:spcPct val="150000"/>
              </a:lnSpc>
              <a:spcBef>
                <a:spcPts val="0"/>
              </a:spcBef>
              <a:spcAft>
                <a:spcPts val="0"/>
              </a:spcAft>
              <a:buSzPts val="2000"/>
              <a:buChar char="○"/>
            </a:pPr>
            <a:r>
              <a:rPr lang="en" sz="2000"/>
              <a:t>Number of YouTube video views for the related song</a:t>
            </a:r>
            <a:endParaRPr sz="2000"/>
          </a:p>
          <a:p>
            <a:pPr marL="914400" lvl="1" indent="-355600" algn="l" rtl="0">
              <a:lnSpc>
                <a:spcPct val="150000"/>
              </a:lnSpc>
              <a:spcBef>
                <a:spcPts val="0"/>
              </a:spcBef>
              <a:spcAft>
                <a:spcPts val="0"/>
              </a:spcAft>
              <a:buSzPts val="2000"/>
              <a:buChar char="○"/>
            </a:pPr>
            <a:r>
              <a:rPr lang="en" sz="2000"/>
              <a:t>Used for </a:t>
            </a:r>
            <a:r>
              <a:rPr lang="en" sz="2000" b="1">
                <a:latin typeface="Lato"/>
                <a:ea typeface="Lato"/>
                <a:cs typeface="Lato"/>
                <a:sym typeface="Lato"/>
              </a:rPr>
              <a:t>regression </a:t>
            </a:r>
            <a:r>
              <a:rPr lang="en" sz="2000"/>
              <a:t>models</a:t>
            </a:r>
            <a:endParaRPr sz="2000"/>
          </a:p>
          <a:p>
            <a:pPr marL="457200" lvl="0" indent="-355600" algn="l" rtl="0">
              <a:lnSpc>
                <a:spcPct val="150000"/>
              </a:lnSpc>
              <a:spcBef>
                <a:spcPts val="0"/>
              </a:spcBef>
              <a:spcAft>
                <a:spcPts val="0"/>
              </a:spcAft>
              <a:buSzPts val="2000"/>
              <a:buChar char="●"/>
            </a:pPr>
            <a:r>
              <a:rPr lang="en" sz="2000" b="1">
                <a:latin typeface="Lato"/>
                <a:ea typeface="Lato"/>
                <a:cs typeface="Lato"/>
                <a:sym typeface="Lato"/>
              </a:rPr>
              <a:t>Binary</a:t>
            </a:r>
            <a:r>
              <a:rPr lang="en" sz="2000"/>
              <a:t>: virality</a:t>
            </a:r>
            <a:endParaRPr sz="2000"/>
          </a:p>
          <a:p>
            <a:pPr marL="914400" lvl="1" indent="-355600" algn="l" rtl="0">
              <a:lnSpc>
                <a:spcPct val="150000"/>
              </a:lnSpc>
              <a:spcBef>
                <a:spcPts val="0"/>
              </a:spcBef>
              <a:spcAft>
                <a:spcPts val="0"/>
              </a:spcAft>
              <a:buSzPts val="2000"/>
              <a:buChar char="○"/>
            </a:pPr>
            <a:r>
              <a:rPr lang="en" sz="2000"/>
              <a:t>A YouTube video/song is viral if it has greater than </a:t>
            </a:r>
            <a:r>
              <a:rPr lang="en" sz="2000" b="1">
                <a:latin typeface="Lato"/>
                <a:ea typeface="Lato"/>
                <a:cs typeface="Lato"/>
                <a:sym typeface="Lato"/>
              </a:rPr>
              <a:t>100,000,000 views </a:t>
            </a:r>
            <a:r>
              <a:rPr lang="en" sz="2000"/>
              <a:t>(34.2% of songs)</a:t>
            </a:r>
            <a:endParaRPr sz="2000"/>
          </a:p>
          <a:p>
            <a:pPr marL="914400" lvl="1" indent="-355600" algn="l" rtl="0">
              <a:lnSpc>
                <a:spcPct val="150000"/>
              </a:lnSpc>
              <a:spcBef>
                <a:spcPts val="0"/>
              </a:spcBef>
              <a:spcAft>
                <a:spcPts val="0"/>
              </a:spcAft>
              <a:buSzPts val="2000"/>
              <a:buChar char="○"/>
            </a:pPr>
            <a:r>
              <a:rPr lang="en" sz="2000"/>
              <a:t>Used for </a:t>
            </a:r>
            <a:r>
              <a:rPr lang="en" sz="2000" b="1">
                <a:latin typeface="Lato"/>
                <a:ea typeface="Lato"/>
                <a:cs typeface="Lato"/>
                <a:sym typeface="Lato"/>
              </a:rPr>
              <a:t>classification </a:t>
            </a:r>
            <a:r>
              <a:rPr lang="en" sz="2000"/>
              <a:t>models</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9"/>
        <p:cNvGrpSpPr/>
        <p:nvPr/>
      </p:nvGrpSpPr>
      <p:grpSpPr>
        <a:xfrm>
          <a:off x="0" y="0"/>
          <a:ext cx="0" cy="0"/>
          <a:chOff x="0" y="0"/>
          <a:chExt cx="0" cy="0"/>
        </a:xfrm>
      </p:grpSpPr>
      <p:sp>
        <p:nvSpPr>
          <p:cNvPr id="340" name="Google Shape;340;p4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Decision Tree Models</a:t>
            </a:r>
            <a:endParaRPr/>
          </a:p>
        </p:txBody>
      </p:sp>
      <p:sp>
        <p:nvSpPr>
          <p:cNvPr id="341" name="Google Shape;341;p41"/>
          <p:cNvSpPr txBox="1">
            <a:spLocks noGrp="1"/>
          </p:cNvSpPr>
          <p:nvPr>
            <p:ph type="body" idx="1"/>
          </p:nvPr>
        </p:nvSpPr>
        <p:spPr>
          <a:xfrm>
            <a:off x="628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max_depth: 5</a:t>
            </a:r>
            <a:endParaRPr sz="1800"/>
          </a:p>
          <a:p>
            <a:pPr marL="457200" lvl="0" indent="-342900" algn="l" rtl="0">
              <a:lnSpc>
                <a:spcPct val="100000"/>
              </a:lnSpc>
              <a:spcBef>
                <a:spcPts val="0"/>
              </a:spcBef>
              <a:spcAft>
                <a:spcPts val="0"/>
              </a:spcAft>
              <a:buSzPts val="1800"/>
              <a:buChar char="●"/>
            </a:pPr>
            <a:r>
              <a:rPr lang="en" sz="1800"/>
              <a:t>min_samples_split: 20</a:t>
            </a:r>
            <a:endParaRPr sz="1800"/>
          </a:p>
          <a:p>
            <a:pPr marL="457200" lvl="0" indent="-342900" algn="l" rtl="0">
              <a:lnSpc>
                <a:spcPct val="100000"/>
              </a:lnSpc>
              <a:spcBef>
                <a:spcPts val="0"/>
              </a:spcBef>
              <a:spcAft>
                <a:spcPts val="0"/>
              </a:spcAft>
              <a:buSzPts val="1800"/>
              <a:buChar char="●"/>
            </a:pPr>
            <a:r>
              <a:rPr lang="en" sz="1800"/>
              <a:t>Mmn_samples_leaf: 5</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RMSE: 421,838,846</a:t>
            </a:r>
            <a:endParaRPr sz="1800"/>
          </a:p>
          <a:p>
            <a:pPr marL="457200" lvl="0" indent="-342900" algn="l" rtl="0">
              <a:lnSpc>
                <a:spcPct val="100000"/>
              </a:lnSpc>
              <a:spcBef>
                <a:spcPts val="0"/>
              </a:spcBef>
              <a:spcAft>
                <a:spcPts val="0"/>
              </a:spcAft>
              <a:buSzPts val="1800"/>
              <a:buChar char="●"/>
            </a:pPr>
            <a:r>
              <a:rPr lang="en" sz="1800"/>
              <a:t>R^2: 14.8%</a:t>
            </a:r>
            <a:endParaRPr sz="1800"/>
          </a:p>
          <a:p>
            <a:pPr marL="0" lvl="0" indent="0" algn="l" rtl="0">
              <a:lnSpc>
                <a:spcPct val="100000"/>
              </a:lnSpc>
              <a:spcBef>
                <a:spcPts val="800"/>
              </a:spcBef>
              <a:spcAft>
                <a:spcPts val="0"/>
              </a:spcAft>
              <a:buNone/>
            </a:pPr>
            <a:r>
              <a:rPr lang="en" sz="1800" b="1">
                <a:latin typeface="Lato"/>
                <a:ea typeface="Lato"/>
                <a:cs typeface="Lato"/>
                <a:sym typeface="Lato"/>
              </a:rPr>
              <a:t>Response: </a:t>
            </a:r>
            <a:r>
              <a:rPr lang="en" sz="1800"/>
              <a:t>log-transformed</a:t>
            </a:r>
            <a:endParaRPr sz="1800"/>
          </a:p>
        </p:txBody>
      </p:sp>
      <p:sp>
        <p:nvSpPr>
          <p:cNvPr id="342" name="Google Shape;342;p41"/>
          <p:cNvSpPr/>
          <p:nvPr/>
        </p:nvSpPr>
        <p:spPr>
          <a:xfrm>
            <a:off x="628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Regressor</a:t>
            </a:r>
            <a:endParaRPr sz="1600" b="1">
              <a:solidFill>
                <a:schemeClr val="lt1"/>
              </a:solidFill>
              <a:latin typeface="Lato"/>
              <a:ea typeface="Lato"/>
              <a:cs typeface="Lato"/>
              <a:sym typeface="Lato"/>
            </a:endParaRPr>
          </a:p>
        </p:txBody>
      </p:sp>
      <p:sp>
        <p:nvSpPr>
          <p:cNvPr id="343" name="Google Shape;343;p41"/>
          <p:cNvSpPr/>
          <p:nvPr/>
        </p:nvSpPr>
        <p:spPr>
          <a:xfrm>
            <a:off x="4672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Classifier</a:t>
            </a:r>
            <a:endParaRPr sz="1600" b="1">
              <a:solidFill>
                <a:schemeClr val="lt1"/>
              </a:solidFill>
              <a:latin typeface="Lato"/>
              <a:ea typeface="Lato"/>
              <a:cs typeface="Lato"/>
              <a:sym typeface="Lato"/>
            </a:endParaRPr>
          </a:p>
        </p:txBody>
      </p:sp>
      <p:sp>
        <p:nvSpPr>
          <p:cNvPr id="344" name="Google Shape;344;p41"/>
          <p:cNvSpPr txBox="1">
            <a:spLocks noGrp="1"/>
          </p:cNvSpPr>
          <p:nvPr>
            <p:ph type="body" idx="1"/>
          </p:nvPr>
        </p:nvSpPr>
        <p:spPr>
          <a:xfrm>
            <a:off x="4672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criterion: gini</a:t>
            </a:r>
            <a:endParaRPr sz="1800"/>
          </a:p>
          <a:p>
            <a:pPr marL="457200" lvl="0" indent="-342900" algn="l" rtl="0">
              <a:lnSpc>
                <a:spcPct val="100000"/>
              </a:lnSpc>
              <a:spcBef>
                <a:spcPts val="0"/>
              </a:spcBef>
              <a:spcAft>
                <a:spcPts val="0"/>
              </a:spcAft>
              <a:buSzPts val="1800"/>
              <a:buChar char="●"/>
            </a:pPr>
            <a:r>
              <a:rPr lang="en" sz="1800"/>
              <a:t>max_depth: 4</a:t>
            </a:r>
            <a:endParaRPr sz="1800"/>
          </a:p>
          <a:p>
            <a:pPr marL="457200" lvl="0" indent="-342900" algn="l" rtl="0">
              <a:lnSpc>
                <a:spcPct val="100000"/>
              </a:lnSpc>
              <a:spcBef>
                <a:spcPts val="0"/>
              </a:spcBef>
              <a:spcAft>
                <a:spcPts val="0"/>
              </a:spcAft>
              <a:buSzPts val="1800"/>
              <a:buChar char="●"/>
            </a:pPr>
            <a:r>
              <a:rPr lang="en" sz="1800"/>
              <a:t>min_samples_split: 2</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Accuracy: 0.58</a:t>
            </a:r>
            <a:endParaRPr sz="1800"/>
          </a:p>
          <a:p>
            <a:pPr marL="457200" lvl="0" indent="-342900" algn="l" rtl="0">
              <a:lnSpc>
                <a:spcPct val="100000"/>
              </a:lnSpc>
              <a:spcBef>
                <a:spcPts val="0"/>
              </a:spcBef>
              <a:spcAft>
                <a:spcPts val="0"/>
              </a:spcAft>
              <a:buSzPts val="1800"/>
              <a:buChar char="●"/>
            </a:pPr>
            <a:r>
              <a:rPr lang="en" sz="1800"/>
              <a:t>F1: 0.59</a:t>
            </a:r>
            <a:endParaRPr sz="1800"/>
          </a:p>
          <a:p>
            <a:pPr marL="457200" lvl="0" indent="-342900" algn="l" rtl="0">
              <a:lnSpc>
                <a:spcPct val="100000"/>
              </a:lnSpc>
              <a:spcBef>
                <a:spcPts val="0"/>
              </a:spcBef>
              <a:spcAft>
                <a:spcPts val="0"/>
              </a:spcAft>
              <a:buSzPts val="1800"/>
              <a:buChar char="●"/>
            </a:pPr>
            <a:r>
              <a:rPr lang="en" sz="1800"/>
              <a:t>AUC: 0.58</a:t>
            </a:r>
            <a:endParaRPr sz="1800" b="1">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8"/>
        <p:cNvGrpSpPr/>
        <p:nvPr/>
      </p:nvGrpSpPr>
      <p:grpSpPr>
        <a:xfrm>
          <a:off x="0" y="0"/>
          <a:ext cx="0" cy="0"/>
          <a:chOff x="0" y="0"/>
          <a:chExt cx="0" cy="0"/>
        </a:xfrm>
      </p:grpSpPr>
      <p:sp>
        <p:nvSpPr>
          <p:cNvPr id="349" name="Google Shape;349;p4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Random Forest Models</a:t>
            </a:r>
            <a:endParaRPr/>
          </a:p>
        </p:txBody>
      </p:sp>
      <p:sp>
        <p:nvSpPr>
          <p:cNvPr id="350" name="Google Shape;350;p42"/>
          <p:cNvSpPr txBox="1">
            <a:spLocks noGrp="1"/>
          </p:cNvSpPr>
          <p:nvPr>
            <p:ph type="body" idx="1"/>
          </p:nvPr>
        </p:nvSpPr>
        <p:spPr>
          <a:xfrm>
            <a:off x="628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n_estimators: 700</a:t>
            </a:r>
            <a:endParaRPr sz="1800"/>
          </a:p>
          <a:p>
            <a:pPr marL="457200" lvl="0" indent="-342900" algn="l" rtl="0">
              <a:lnSpc>
                <a:spcPct val="100000"/>
              </a:lnSpc>
              <a:spcBef>
                <a:spcPts val="0"/>
              </a:spcBef>
              <a:spcAft>
                <a:spcPts val="0"/>
              </a:spcAft>
              <a:buSzPts val="1800"/>
              <a:buChar char="●"/>
            </a:pPr>
            <a:r>
              <a:rPr lang="en" sz="1800"/>
              <a:t>max_depth: None</a:t>
            </a:r>
            <a:endParaRPr sz="1800"/>
          </a:p>
          <a:p>
            <a:pPr marL="457200" lvl="0" indent="-342900" algn="l" rtl="0">
              <a:lnSpc>
                <a:spcPct val="100000"/>
              </a:lnSpc>
              <a:spcBef>
                <a:spcPts val="0"/>
              </a:spcBef>
              <a:spcAft>
                <a:spcPts val="0"/>
              </a:spcAft>
              <a:buSzPts val="1800"/>
              <a:buChar char="●"/>
            </a:pPr>
            <a:r>
              <a:rPr lang="en" sz="1800"/>
              <a:t>min_samples_leaf: 4</a:t>
            </a:r>
            <a:endParaRPr sz="1800"/>
          </a:p>
          <a:p>
            <a:pPr marL="457200" lvl="0" indent="-342900" algn="l" rtl="0">
              <a:lnSpc>
                <a:spcPct val="100000"/>
              </a:lnSpc>
              <a:spcBef>
                <a:spcPts val="0"/>
              </a:spcBef>
              <a:spcAft>
                <a:spcPts val="0"/>
              </a:spcAft>
              <a:buSzPts val="1800"/>
              <a:buChar char="●"/>
            </a:pPr>
            <a:r>
              <a:rPr lang="en" sz="1800"/>
              <a:t>min_samples_split: 6</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RMSE: 404,674,082</a:t>
            </a:r>
            <a:endParaRPr sz="1800"/>
          </a:p>
          <a:p>
            <a:pPr marL="457200" lvl="0" indent="-342900" algn="l" rtl="0">
              <a:lnSpc>
                <a:spcPct val="100000"/>
              </a:lnSpc>
              <a:spcBef>
                <a:spcPts val="0"/>
              </a:spcBef>
              <a:spcAft>
                <a:spcPts val="0"/>
              </a:spcAft>
              <a:buSzPts val="1800"/>
              <a:buChar char="●"/>
            </a:pPr>
            <a:r>
              <a:rPr lang="en" sz="1800"/>
              <a:t>R^2: 17.0%</a:t>
            </a:r>
            <a:endParaRPr sz="1800"/>
          </a:p>
        </p:txBody>
      </p:sp>
      <p:sp>
        <p:nvSpPr>
          <p:cNvPr id="351" name="Google Shape;351;p42"/>
          <p:cNvSpPr/>
          <p:nvPr/>
        </p:nvSpPr>
        <p:spPr>
          <a:xfrm>
            <a:off x="628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Regressor</a:t>
            </a:r>
            <a:endParaRPr sz="1600" b="1">
              <a:solidFill>
                <a:schemeClr val="lt1"/>
              </a:solidFill>
              <a:latin typeface="Lato"/>
              <a:ea typeface="Lato"/>
              <a:cs typeface="Lato"/>
              <a:sym typeface="Lato"/>
            </a:endParaRPr>
          </a:p>
        </p:txBody>
      </p:sp>
      <p:sp>
        <p:nvSpPr>
          <p:cNvPr id="352" name="Google Shape;352;p42"/>
          <p:cNvSpPr/>
          <p:nvPr/>
        </p:nvSpPr>
        <p:spPr>
          <a:xfrm>
            <a:off x="4672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Classifier</a:t>
            </a:r>
            <a:endParaRPr sz="1600" b="1">
              <a:solidFill>
                <a:schemeClr val="lt1"/>
              </a:solidFill>
              <a:latin typeface="Lato"/>
              <a:ea typeface="Lato"/>
              <a:cs typeface="Lato"/>
              <a:sym typeface="Lato"/>
            </a:endParaRPr>
          </a:p>
        </p:txBody>
      </p:sp>
      <p:sp>
        <p:nvSpPr>
          <p:cNvPr id="353" name="Google Shape;353;p42"/>
          <p:cNvSpPr txBox="1">
            <a:spLocks noGrp="1"/>
          </p:cNvSpPr>
          <p:nvPr>
            <p:ph type="body" idx="1"/>
          </p:nvPr>
        </p:nvSpPr>
        <p:spPr>
          <a:xfrm>
            <a:off x="4672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Clr>
                <a:schemeClr val="accent4"/>
              </a:buClr>
              <a:buSzPts val="1100"/>
              <a:buFont typeface="Arial"/>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n_estimators: 400</a:t>
            </a:r>
            <a:endParaRPr sz="1800"/>
          </a:p>
          <a:p>
            <a:pPr marL="457200" lvl="0" indent="-342900" algn="l" rtl="0">
              <a:lnSpc>
                <a:spcPct val="100000"/>
              </a:lnSpc>
              <a:spcBef>
                <a:spcPts val="0"/>
              </a:spcBef>
              <a:spcAft>
                <a:spcPts val="0"/>
              </a:spcAft>
              <a:buSzPts val="1800"/>
              <a:buChar char="●"/>
            </a:pPr>
            <a:r>
              <a:rPr lang="en" sz="1800"/>
              <a:t>max_depth: None</a:t>
            </a:r>
            <a:endParaRPr sz="1800"/>
          </a:p>
          <a:p>
            <a:pPr marL="457200" lvl="0" indent="-342900" algn="l" rtl="0">
              <a:lnSpc>
                <a:spcPct val="100000"/>
              </a:lnSpc>
              <a:spcBef>
                <a:spcPts val="0"/>
              </a:spcBef>
              <a:spcAft>
                <a:spcPts val="0"/>
              </a:spcAft>
              <a:buSzPts val="1800"/>
              <a:buChar char="●"/>
            </a:pPr>
            <a:r>
              <a:rPr lang="en" sz="1800"/>
              <a:t>min_samples_leaf: 2</a:t>
            </a:r>
            <a:endParaRPr sz="1800"/>
          </a:p>
          <a:p>
            <a:pPr marL="457200" lvl="0" indent="-342900" algn="l" rtl="0">
              <a:lnSpc>
                <a:spcPct val="100000"/>
              </a:lnSpc>
              <a:spcBef>
                <a:spcPts val="0"/>
              </a:spcBef>
              <a:spcAft>
                <a:spcPts val="0"/>
              </a:spcAft>
              <a:buSzPts val="1800"/>
              <a:buChar char="●"/>
            </a:pPr>
            <a:r>
              <a:rPr lang="en" sz="1800"/>
              <a:t>min_samples_split: 10</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Accuracy: 0.65</a:t>
            </a:r>
            <a:endParaRPr sz="1800"/>
          </a:p>
          <a:p>
            <a:pPr marL="457200" lvl="0" indent="-342900" algn="l" rtl="0">
              <a:lnSpc>
                <a:spcPct val="100000"/>
              </a:lnSpc>
              <a:spcBef>
                <a:spcPts val="0"/>
              </a:spcBef>
              <a:spcAft>
                <a:spcPts val="0"/>
              </a:spcAft>
              <a:buSzPts val="1800"/>
              <a:buChar char="●"/>
            </a:pPr>
            <a:r>
              <a:rPr lang="en" sz="1800"/>
              <a:t>F1: 0.62 (optimized)</a:t>
            </a:r>
            <a:endParaRPr sz="1800"/>
          </a:p>
          <a:p>
            <a:pPr marL="457200" lvl="0" indent="-342900" algn="l" rtl="0">
              <a:lnSpc>
                <a:spcPct val="100000"/>
              </a:lnSpc>
              <a:spcBef>
                <a:spcPts val="0"/>
              </a:spcBef>
              <a:spcAft>
                <a:spcPts val="0"/>
              </a:spcAft>
              <a:buSzPts val="1800"/>
              <a:buChar char="●"/>
            </a:pPr>
            <a:r>
              <a:rPr lang="en" sz="1800"/>
              <a:t>AUC: 0.756</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43"/>
          <p:cNvPicPr preferRelativeResize="0"/>
          <p:nvPr/>
        </p:nvPicPr>
        <p:blipFill rotWithShape="1">
          <a:blip r:embed="rId3">
            <a:alphaModFix/>
          </a:blip>
          <a:srcRect t="270" b="-269"/>
          <a:stretch/>
        </p:blipFill>
        <p:spPr>
          <a:xfrm>
            <a:off x="152400" y="296900"/>
            <a:ext cx="8839198" cy="454969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44"/>
          <p:cNvPicPr preferRelativeResize="0"/>
          <p:nvPr/>
        </p:nvPicPr>
        <p:blipFill rotWithShape="1">
          <a:blip r:embed="rId3">
            <a:alphaModFix/>
          </a:blip>
          <a:srcRect t="540" b="-540"/>
          <a:stretch/>
        </p:blipFill>
        <p:spPr>
          <a:xfrm>
            <a:off x="152400" y="374950"/>
            <a:ext cx="8839198" cy="439358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7"/>
        <p:cNvGrpSpPr/>
        <p:nvPr/>
      </p:nvGrpSpPr>
      <p:grpSpPr>
        <a:xfrm>
          <a:off x="0" y="0"/>
          <a:ext cx="0" cy="0"/>
          <a:chOff x="0" y="0"/>
          <a:chExt cx="0" cy="0"/>
        </a:xfrm>
      </p:grpSpPr>
      <p:sp>
        <p:nvSpPr>
          <p:cNvPr id="368" name="Google Shape;368;p4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XGBoost Models</a:t>
            </a:r>
            <a:endParaRPr/>
          </a:p>
        </p:txBody>
      </p:sp>
      <p:sp>
        <p:nvSpPr>
          <p:cNvPr id="369" name="Google Shape;369;p45"/>
          <p:cNvSpPr txBox="1">
            <a:spLocks noGrp="1"/>
          </p:cNvSpPr>
          <p:nvPr>
            <p:ph type="body" idx="1"/>
          </p:nvPr>
        </p:nvSpPr>
        <p:spPr>
          <a:xfrm>
            <a:off x="4672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Clr>
                <a:schemeClr val="accent4"/>
              </a:buClr>
              <a:buSzPts val="1100"/>
              <a:buFont typeface="Arial"/>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n_estimators: 400</a:t>
            </a:r>
            <a:endParaRPr sz="1800"/>
          </a:p>
          <a:p>
            <a:pPr marL="457200" lvl="0" indent="-342900" algn="l" rtl="0">
              <a:lnSpc>
                <a:spcPct val="100000"/>
              </a:lnSpc>
              <a:spcBef>
                <a:spcPts val="0"/>
              </a:spcBef>
              <a:spcAft>
                <a:spcPts val="0"/>
              </a:spcAft>
              <a:buSzPts val="1800"/>
              <a:buChar char="●"/>
            </a:pPr>
            <a:r>
              <a:rPr lang="en" sz="1800"/>
              <a:t>learning_rate: 0.015</a:t>
            </a:r>
            <a:endParaRPr sz="1800"/>
          </a:p>
          <a:p>
            <a:pPr marL="457200" lvl="0" indent="-342900" algn="l" rtl="0">
              <a:lnSpc>
                <a:spcPct val="100000"/>
              </a:lnSpc>
              <a:spcBef>
                <a:spcPts val="0"/>
              </a:spcBef>
              <a:spcAft>
                <a:spcPts val="0"/>
              </a:spcAft>
              <a:buSzPts val="1800"/>
              <a:buChar char="●"/>
            </a:pPr>
            <a:r>
              <a:rPr lang="en" sz="1800"/>
              <a:t>max_depth: 8</a:t>
            </a:r>
            <a:endParaRPr sz="1800"/>
          </a:p>
          <a:p>
            <a:pPr marL="457200" lvl="0" indent="-342900" algn="l" rtl="0">
              <a:lnSpc>
                <a:spcPct val="100000"/>
              </a:lnSpc>
              <a:spcBef>
                <a:spcPts val="0"/>
              </a:spcBef>
              <a:spcAft>
                <a:spcPts val="0"/>
              </a:spcAft>
              <a:buSzPts val="1800"/>
              <a:buChar char="●"/>
            </a:pPr>
            <a:r>
              <a:rPr lang="en" sz="1800"/>
              <a:t>min_child_weight: 7</a:t>
            </a:r>
            <a:endParaRPr sz="1800"/>
          </a:p>
          <a:p>
            <a:pPr marL="0" lvl="0" indent="0" algn="l" rtl="0">
              <a:lnSpc>
                <a:spcPct val="100000"/>
              </a:lnSpc>
              <a:spcBef>
                <a:spcPts val="800"/>
              </a:spcBef>
              <a:spcAft>
                <a:spcPts val="0"/>
              </a:spcAft>
              <a:buClr>
                <a:schemeClr val="accent4"/>
              </a:buClr>
              <a:buSzPts val="1100"/>
              <a:buFont typeface="Arial"/>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Accuracy: 0.71</a:t>
            </a:r>
            <a:endParaRPr sz="1800"/>
          </a:p>
          <a:p>
            <a:pPr marL="457200" lvl="0" indent="-342900" algn="l" rtl="0">
              <a:lnSpc>
                <a:spcPct val="100000"/>
              </a:lnSpc>
              <a:spcBef>
                <a:spcPts val="0"/>
              </a:spcBef>
              <a:spcAft>
                <a:spcPts val="0"/>
              </a:spcAft>
              <a:buSzPts val="1800"/>
              <a:buChar char="●"/>
            </a:pPr>
            <a:r>
              <a:rPr lang="en" sz="1800"/>
              <a:t>F1: 0.50</a:t>
            </a:r>
            <a:endParaRPr sz="1800"/>
          </a:p>
          <a:p>
            <a:pPr marL="457200" lvl="0" indent="-342900" algn="l" rtl="0">
              <a:lnSpc>
                <a:spcPct val="100000"/>
              </a:lnSpc>
              <a:spcBef>
                <a:spcPts val="0"/>
              </a:spcBef>
              <a:spcAft>
                <a:spcPts val="0"/>
              </a:spcAft>
              <a:buSzPts val="1800"/>
              <a:buChar char="●"/>
            </a:pPr>
            <a:r>
              <a:rPr lang="en" sz="1800"/>
              <a:t>AUC: 0.75</a:t>
            </a:r>
            <a:endParaRPr sz="1800"/>
          </a:p>
        </p:txBody>
      </p:sp>
      <p:sp>
        <p:nvSpPr>
          <p:cNvPr id="370" name="Google Shape;370;p45"/>
          <p:cNvSpPr txBox="1">
            <a:spLocks noGrp="1"/>
          </p:cNvSpPr>
          <p:nvPr>
            <p:ph type="body" idx="1"/>
          </p:nvPr>
        </p:nvSpPr>
        <p:spPr>
          <a:xfrm>
            <a:off x="628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n_estimators: 300</a:t>
            </a:r>
            <a:endParaRPr sz="1800"/>
          </a:p>
          <a:p>
            <a:pPr marL="457200" lvl="0" indent="-342900" algn="l" rtl="0">
              <a:lnSpc>
                <a:spcPct val="100000"/>
              </a:lnSpc>
              <a:spcBef>
                <a:spcPts val="0"/>
              </a:spcBef>
              <a:spcAft>
                <a:spcPts val="0"/>
              </a:spcAft>
              <a:buSzPts val="1800"/>
              <a:buChar char="●"/>
            </a:pPr>
            <a:r>
              <a:rPr lang="en" sz="1800"/>
              <a:t>learning_rate: 0.01</a:t>
            </a:r>
            <a:endParaRPr sz="1800"/>
          </a:p>
          <a:p>
            <a:pPr marL="457200" lvl="0" indent="-342900" algn="l" rtl="0">
              <a:lnSpc>
                <a:spcPct val="100000"/>
              </a:lnSpc>
              <a:spcBef>
                <a:spcPts val="0"/>
              </a:spcBef>
              <a:spcAft>
                <a:spcPts val="0"/>
              </a:spcAft>
              <a:buSzPts val="1800"/>
              <a:buChar char="●"/>
            </a:pPr>
            <a:r>
              <a:rPr lang="en" sz="1800"/>
              <a:t>max_depth: 7</a:t>
            </a:r>
            <a:endParaRPr sz="1800"/>
          </a:p>
          <a:p>
            <a:pPr marL="457200" lvl="0" indent="-342900" algn="l" rtl="0">
              <a:lnSpc>
                <a:spcPct val="100000"/>
              </a:lnSpc>
              <a:spcBef>
                <a:spcPts val="0"/>
              </a:spcBef>
              <a:spcAft>
                <a:spcPts val="0"/>
              </a:spcAft>
              <a:buSzPts val="1800"/>
              <a:buChar char="●"/>
            </a:pPr>
            <a:r>
              <a:rPr lang="en" sz="1800"/>
              <a:t>Min_child_weight: 7</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a:p>
          <a:p>
            <a:pPr marL="457200" lvl="0" indent="-342900" algn="l" rtl="0">
              <a:lnSpc>
                <a:spcPct val="100000"/>
              </a:lnSpc>
              <a:spcBef>
                <a:spcPts val="800"/>
              </a:spcBef>
              <a:spcAft>
                <a:spcPts val="0"/>
              </a:spcAft>
              <a:buSzPts val="1800"/>
              <a:buChar char="●"/>
            </a:pPr>
            <a:r>
              <a:rPr lang="en" sz="1800"/>
              <a:t>RMSE: 406,201,920</a:t>
            </a:r>
            <a:endParaRPr sz="1800"/>
          </a:p>
          <a:p>
            <a:pPr marL="457200" lvl="0" indent="-342900" algn="l" rtl="0">
              <a:lnSpc>
                <a:spcPct val="100000"/>
              </a:lnSpc>
              <a:spcBef>
                <a:spcPts val="0"/>
              </a:spcBef>
              <a:spcAft>
                <a:spcPts val="0"/>
              </a:spcAft>
              <a:buSzPts val="1800"/>
              <a:buChar char="●"/>
            </a:pPr>
            <a:r>
              <a:rPr lang="en" sz="1800"/>
              <a:t>R^2: 14.5%</a:t>
            </a:r>
            <a:endParaRPr sz="1800" b="1">
              <a:latin typeface="Lato"/>
              <a:ea typeface="Lato"/>
              <a:cs typeface="Lato"/>
              <a:sym typeface="Lato"/>
            </a:endParaRPr>
          </a:p>
        </p:txBody>
      </p:sp>
      <p:sp>
        <p:nvSpPr>
          <p:cNvPr id="371" name="Google Shape;371;p45"/>
          <p:cNvSpPr/>
          <p:nvPr/>
        </p:nvSpPr>
        <p:spPr>
          <a:xfrm>
            <a:off x="628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Regressor</a:t>
            </a:r>
            <a:endParaRPr sz="1600" b="1">
              <a:solidFill>
                <a:schemeClr val="lt1"/>
              </a:solidFill>
              <a:latin typeface="Lato"/>
              <a:ea typeface="Lato"/>
              <a:cs typeface="Lato"/>
              <a:sym typeface="Lato"/>
            </a:endParaRPr>
          </a:p>
        </p:txBody>
      </p:sp>
      <p:sp>
        <p:nvSpPr>
          <p:cNvPr id="372" name="Google Shape;372;p45"/>
          <p:cNvSpPr/>
          <p:nvPr/>
        </p:nvSpPr>
        <p:spPr>
          <a:xfrm>
            <a:off x="4672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Classifier</a:t>
            </a:r>
            <a:endParaRPr sz="1600" b="1">
              <a:solidFill>
                <a:schemeClr val="l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46"/>
          <p:cNvPicPr preferRelativeResize="0"/>
          <p:nvPr/>
        </p:nvPicPr>
        <p:blipFill>
          <a:blip r:embed="rId3">
            <a:alphaModFix/>
          </a:blip>
          <a:stretch>
            <a:fillRect/>
          </a:stretch>
        </p:blipFill>
        <p:spPr>
          <a:xfrm>
            <a:off x="152400" y="382425"/>
            <a:ext cx="8839200" cy="4378643"/>
          </a:xfrm>
          <a:prstGeom prst="rect">
            <a:avLst/>
          </a:prstGeom>
          <a:noFill/>
          <a:ln>
            <a:noFill/>
          </a:ln>
        </p:spPr>
      </p:pic>
      <p:sp>
        <p:nvSpPr>
          <p:cNvPr id="378" name="Google Shape;378;p46"/>
          <p:cNvSpPr/>
          <p:nvPr/>
        </p:nvSpPr>
        <p:spPr>
          <a:xfrm>
            <a:off x="448175" y="365950"/>
            <a:ext cx="422100" cy="2292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Light"/>
              <a:ea typeface="Lato Light"/>
              <a:cs typeface="Lato Light"/>
              <a:sym typeface="Lato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3" name="Google Shape;383;p47"/>
          <p:cNvPicPr preferRelativeResize="0"/>
          <p:nvPr/>
        </p:nvPicPr>
        <p:blipFill>
          <a:blip r:embed="rId3">
            <a:alphaModFix/>
          </a:blip>
          <a:stretch>
            <a:fillRect/>
          </a:stretch>
        </p:blipFill>
        <p:spPr>
          <a:xfrm>
            <a:off x="152400" y="378675"/>
            <a:ext cx="8839198" cy="438614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7"/>
        <p:cNvGrpSpPr/>
        <p:nvPr/>
      </p:nvGrpSpPr>
      <p:grpSpPr>
        <a:xfrm>
          <a:off x="0" y="0"/>
          <a:ext cx="0" cy="0"/>
          <a:chOff x="0" y="0"/>
          <a:chExt cx="0" cy="0"/>
        </a:xfrm>
      </p:grpSpPr>
      <p:sp>
        <p:nvSpPr>
          <p:cNvPr id="388" name="Google Shape;388;p4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Support Vector Models</a:t>
            </a:r>
            <a:endParaRPr/>
          </a:p>
        </p:txBody>
      </p:sp>
      <p:sp>
        <p:nvSpPr>
          <p:cNvPr id="389" name="Google Shape;389;p48"/>
          <p:cNvSpPr/>
          <p:nvPr/>
        </p:nvSpPr>
        <p:spPr>
          <a:xfrm>
            <a:off x="628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Regressor</a:t>
            </a:r>
            <a:endParaRPr sz="1600" b="1">
              <a:solidFill>
                <a:schemeClr val="lt1"/>
              </a:solidFill>
              <a:latin typeface="Lato"/>
              <a:ea typeface="Lato"/>
              <a:cs typeface="Lato"/>
              <a:sym typeface="Lato"/>
            </a:endParaRPr>
          </a:p>
        </p:txBody>
      </p:sp>
      <p:sp>
        <p:nvSpPr>
          <p:cNvPr id="390" name="Google Shape;390;p48"/>
          <p:cNvSpPr/>
          <p:nvPr/>
        </p:nvSpPr>
        <p:spPr>
          <a:xfrm>
            <a:off x="4672650" y="1268050"/>
            <a:ext cx="3842700" cy="37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800"/>
              </a:spcBef>
              <a:spcAft>
                <a:spcPts val="0"/>
              </a:spcAft>
              <a:buNone/>
            </a:pPr>
            <a:r>
              <a:rPr lang="en" sz="1600" b="1">
                <a:solidFill>
                  <a:schemeClr val="lt1"/>
                </a:solidFill>
                <a:latin typeface="Lato"/>
                <a:ea typeface="Lato"/>
                <a:cs typeface="Lato"/>
                <a:sym typeface="Lato"/>
              </a:rPr>
              <a:t>Classifier</a:t>
            </a:r>
            <a:endParaRPr sz="1600" b="1">
              <a:solidFill>
                <a:schemeClr val="lt1"/>
              </a:solidFill>
              <a:latin typeface="Lato"/>
              <a:ea typeface="Lato"/>
              <a:cs typeface="Lato"/>
              <a:sym typeface="Lato"/>
            </a:endParaRPr>
          </a:p>
        </p:txBody>
      </p:sp>
      <p:sp>
        <p:nvSpPr>
          <p:cNvPr id="391" name="Google Shape;391;p48"/>
          <p:cNvSpPr txBox="1">
            <a:spLocks noGrp="1"/>
          </p:cNvSpPr>
          <p:nvPr>
            <p:ph type="body" idx="1"/>
          </p:nvPr>
        </p:nvSpPr>
        <p:spPr>
          <a:xfrm>
            <a:off x="4672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C: 5</a:t>
            </a:r>
            <a:endParaRPr sz="1800"/>
          </a:p>
          <a:p>
            <a:pPr marL="457200" lvl="0" indent="-342900" algn="l" rtl="0">
              <a:lnSpc>
                <a:spcPct val="100000"/>
              </a:lnSpc>
              <a:spcBef>
                <a:spcPts val="0"/>
              </a:spcBef>
              <a:spcAft>
                <a:spcPts val="0"/>
              </a:spcAft>
              <a:buSzPts val="1800"/>
              <a:buChar char="●"/>
            </a:pPr>
            <a:r>
              <a:rPr lang="en" sz="1800"/>
              <a:t>gamma: 0.01</a:t>
            </a:r>
            <a:endParaRPr sz="1800"/>
          </a:p>
          <a:p>
            <a:pPr marL="457200" lvl="0" indent="-342900" algn="l" rtl="0">
              <a:lnSpc>
                <a:spcPct val="100000"/>
              </a:lnSpc>
              <a:spcBef>
                <a:spcPts val="0"/>
              </a:spcBef>
              <a:spcAft>
                <a:spcPts val="0"/>
              </a:spcAft>
              <a:buSzPts val="1800"/>
              <a:buChar char="●"/>
            </a:pPr>
            <a:r>
              <a:rPr lang="en" sz="1800"/>
              <a:t>kernel: rbf</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Accuracy: 0.697</a:t>
            </a:r>
            <a:endParaRPr sz="1800"/>
          </a:p>
          <a:p>
            <a:pPr marL="457200" lvl="0" indent="-342900" algn="l" rtl="0">
              <a:lnSpc>
                <a:spcPct val="100000"/>
              </a:lnSpc>
              <a:spcBef>
                <a:spcPts val="0"/>
              </a:spcBef>
              <a:spcAft>
                <a:spcPts val="0"/>
              </a:spcAft>
              <a:buSzPts val="1800"/>
              <a:buChar char="●"/>
            </a:pPr>
            <a:r>
              <a:rPr lang="en" sz="1800"/>
              <a:t>F1: 0.70</a:t>
            </a:r>
            <a:endParaRPr sz="1800"/>
          </a:p>
          <a:p>
            <a:pPr marL="457200" lvl="0" indent="-342900" algn="l" rtl="0">
              <a:lnSpc>
                <a:spcPct val="100000"/>
              </a:lnSpc>
              <a:spcBef>
                <a:spcPts val="0"/>
              </a:spcBef>
              <a:spcAft>
                <a:spcPts val="0"/>
              </a:spcAft>
              <a:buSzPts val="1800"/>
              <a:buChar char="●"/>
            </a:pPr>
            <a:r>
              <a:rPr lang="en" sz="1800"/>
              <a:t>AUC: 0.702</a:t>
            </a:r>
            <a:endParaRPr sz="1800"/>
          </a:p>
          <a:p>
            <a:pPr marL="0" lvl="0" indent="0" algn="l" rtl="0">
              <a:lnSpc>
                <a:spcPct val="100000"/>
              </a:lnSpc>
              <a:spcBef>
                <a:spcPts val="800"/>
              </a:spcBef>
              <a:spcAft>
                <a:spcPts val="0"/>
              </a:spcAft>
              <a:buNone/>
            </a:pPr>
            <a:endParaRPr sz="1800"/>
          </a:p>
        </p:txBody>
      </p:sp>
      <p:sp>
        <p:nvSpPr>
          <p:cNvPr id="392" name="Google Shape;392;p48"/>
          <p:cNvSpPr txBox="1">
            <a:spLocks noGrp="1"/>
          </p:cNvSpPr>
          <p:nvPr>
            <p:ph type="body" idx="1"/>
          </p:nvPr>
        </p:nvSpPr>
        <p:spPr>
          <a:xfrm>
            <a:off x="628650" y="1764550"/>
            <a:ext cx="3842700" cy="3026400"/>
          </a:xfrm>
          <a:prstGeom prst="rect">
            <a:avLst/>
          </a:prstGeom>
          <a:ln w="9525" cap="flat" cmpd="sng">
            <a:solidFill>
              <a:schemeClr val="dk2"/>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800" b="1">
                <a:latin typeface="Lato"/>
                <a:ea typeface="Lato"/>
                <a:cs typeface="Lato"/>
                <a:sym typeface="Lato"/>
              </a:rPr>
              <a:t>Hyperparameters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C: 100</a:t>
            </a:r>
            <a:endParaRPr sz="1800"/>
          </a:p>
          <a:p>
            <a:pPr marL="457200" lvl="0" indent="-342900" algn="l" rtl="0">
              <a:lnSpc>
                <a:spcPct val="100000"/>
              </a:lnSpc>
              <a:spcBef>
                <a:spcPts val="0"/>
              </a:spcBef>
              <a:spcAft>
                <a:spcPts val="0"/>
              </a:spcAft>
              <a:buSzPts val="1800"/>
              <a:buChar char="●"/>
            </a:pPr>
            <a:r>
              <a:rPr lang="en" sz="1800"/>
              <a:t>epsilon: 0.9</a:t>
            </a:r>
            <a:endParaRPr sz="1800"/>
          </a:p>
          <a:p>
            <a:pPr marL="457200" lvl="0" indent="-342900" algn="l" rtl="0">
              <a:lnSpc>
                <a:spcPct val="100000"/>
              </a:lnSpc>
              <a:spcBef>
                <a:spcPts val="0"/>
              </a:spcBef>
              <a:spcAft>
                <a:spcPts val="0"/>
              </a:spcAft>
              <a:buSzPts val="1800"/>
              <a:buChar char="●"/>
            </a:pPr>
            <a:r>
              <a:rPr lang="en" sz="1800"/>
              <a:t>gamma: 0.001</a:t>
            </a:r>
            <a:endParaRPr sz="1800"/>
          </a:p>
          <a:p>
            <a:pPr marL="0" lvl="0" indent="0" algn="l" rtl="0">
              <a:lnSpc>
                <a:spcPct val="100000"/>
              </a:lnSpc>
              <a:spcBef>
                <a:spcPts val="800"/>
              </a:spcBef>
              <a:spcAft>
                <a:spcPts val="0"/>
              </a:spcAft>
              <a:buNone/>
            </a:pPr>
            <a:r>
              <a:rPr lang="en" sz="1800" b="1">
                <a:latin typeface="Lato"/>
                <a:ea typeface="Lato"/>
                <a:cs typeface="Lato"/>
                <a:sym typeface="Lato"/>
              </a:rPr>
              <a:t>Results</a:t>
            </a:r>
            <a:endParaRPr sz="1800" b="1">
              <a:latin typeface="Lato"/>
              <a:ea typeface="Lato"/>
              <a:cs typeface="Lato"/>
              <a:sym typeface="Lato"/>
            </a:endParaRPr>
          </a:p>
          <a:p>
            <a:pPr marL="457200" lvl="0" indent="-342900" algn="l" rtl="0">
              <a:lnSpc>
                <a:spcPct val="100000"/>
              </a:lnSpc>
              <a:spcBef>
                <a:spcPts val="800"/>
              </a:spcBef>
              <a:spcAft>
                <a:spcPts val="0"/>
              </a:spcAft>
              <a:buSzPts val="1800"/>
              <a:buChar char="●"/>
            </a:pPr>
            <a:r>
              <a:rPr lang="en" sz="1800"/>
              <a:t>RMSE: 444,915,912</a:t>
            </a:r>
            <a:endParaRPr sz="1800"/>
          </a:p>
          <a:p>
            <a:pPr marL="457200" lvl="0" indent="-342900" algn="l" rtl="0">
              <a:lnSpc>
                <a:spcPct val="100000"/>
              </a:lnSpc>
              <a:spcBef>
                <a:spcPts val="0"/>
              </a:spcBef>
              <a:spcAft>
                <a:spcPts val="0"/>
              </a:spcAft>
              <a:buSzPts val="1800"/>
              <a:buChar char="●"/>
            </a:pPr>
            <a:r>
              <a:rPr lang="en" sz="1800"/>
              <a:t>R^2: 20.3%</a:t>
            </a:r>
            <a:endParaRPr sz="1800"/>
          </a:p>
          <a:p>
            <a:pPr marL="0" lvl="0" indent="0" algn="l" rtl="0">
              <a:lnSpc>
                <a:spcPct val="100000"/>
              </a:lnSpc>
              <a:spcBef>
                <a:spcPts val="800"/>
              </a:spcBef>
              <a:spcAft>
                <a:spcPts val="0"/>
              </a:spcAft>
              <a:buNone/>
            </a:pPr>
            <a:r>
              <a:rPr lang="en" sz="1800" b="1">
                <a:latin typeface="Lato"/>
                <a:ea typeface="Lato"/>
                <a:cs typeface="Lato"/>
                <a:sym typeface="Lato"/>
              </a:rPr>
              <a:t>Response: </a:t>
            </a:r>
            <a:r>
              <a:rPr lang="en" sz="1800"/>
              <a:t>log-transformed</a:t>
            </a:r>
            <a:endParaRPr sz="1800"/>
          </a:p>
          <a:p>
            <a:pPr marL="0" lvl="0" indent="0" algn="l" rtl="0">
              <a:lnSpc>
                <a:spcPct val="100000"/>
              </a:lnSpc>
              <a:spcBef>
                <a:spcPts val="800"/>
              </a:spcBef>
              <a:spcAft>
                <a:spcPts val="0"/>
              </a:spcAft>
              <a:buNone/>
            </a:pP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6"/>
        <p:cNvGrpSpPr/>
        <p:nvPr/>
      </p:nvGrpSpPr>
      <p:grpSpPr>
        <a:xfrm>
          <a:off x="0" y="0"/>
          <a:ext cx="0" cy="0"/>
          <a:chOff x="0" y="0"/>
          <a:chExt cx="0" cy="0"/>
        </a:xfrm>
      </p:grpSpPr>
      <p:sp>
        <p:nvSpPr>
          <p:cNvPr id="397" name="Google Shape;397;p49"/>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lnSpc>
                <a:spcPct val="115000"/>
              </a:lnSpc>
              <a:spcBef>
                <a:spcPts val="0"/>
              </a:spcBef>
              <a:spcAft>
                <a:spcPts val="0"/>
              </a:spcAft>
              <a:buNone/>
            </a:pPr>
            <a:r>
              <a:rPr lang="en"/>
              <a:t>Best Model(s) </a:t>
            </a:r>
            <a:endParaRPr/>
          </a:p>
        </p:txBody>
      </p:sp>
      <p:sp>
        <p:nvSpPr>
          <p:cNvPr id="398" name="Google Shape;398;p49"/>
          <p:cNvSpPr txBox="1"/>
          <p:nvPr/>
        </p:nvSpPr>
        <p:spPr>
          <a:xfrm>
            <a:off x="1359875" y="1369200"/>
            <a:ext cx="7155600" cy="3457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b="1">
                <a:solidFill>
                  <a:schemeClr val="dk1"/>
                </a:solidFill>
                <a:latin typeface="Lato"/>
                <a:ea typeface="Lato"/>
                <a:cs typeface="Lato"/>
                <a:sym typeface="Lato"/>
              </a:rPr>
              <a:t>Regression</a:t>
            </a:r>
            <a:endParaRPr sz="1800" b="1">
              <a:solidFill>
                <a:schemeClr val="dk1"/>
              </a:solidFill>
              <a:latin typeface="Lato"/>
              <a:ea typeface="Lato"/>
              <a:cs typeface="Lato"/>
              <a:sym typeface="Lato"/>
            </a:endParaRPr>
          </a:p>
          <a:p>
            <a:pPr marL="1371600" lvl="1"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RMSE: 		Random Forest (404,674,082)</a:t>
            </a:r>
            <a:endParaRPr sz="1800">
              <a:solidFill>
                <a:schemeClr val="dk1"/>
              </a:solidFill>
              <a:latin typeface="Lato Light"/>
              <a:ea typeface="Lato Light"/>
              <a:cs typeface="Lato Light"/>
              <a:sym typeface="Lato Light"/>
            </a:endParaRPr>
          </a:p>
          <a:p>
            <a:pPr marL="1371600" lvl="1"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R</a:t>
            </a:r>
            <a:r>
              <a:rPr lang="en" sz="1800" baseline="30000">
                <a:solidFill>
                  <a:schemeClr val="dk1"/>
                </a:solidFill>
                <a:latin typeface="Lato Light"/>
                <a:ea typeface="Lato Light"/>
                <a:cs typeface="Lato Light"/>
                <a:sym typeface="Lato Light"/>
              </a:rPr>
              <a:t>2</a:t>
            </a:r>
            <a:r>
              <a:rPr lang="en" sz="1800">
                <a:solidFill>
                  <a:schemeClr val="dk1"/>
                </a:solidFill>
                <a:latin typeface="Lato Light"/>
                <a:ea typeface="Lato Light"/>
                <a:cs typeface="Lato Light"/>
                <a:sym typeface="Lato Light"/>
              </a:rPr>
              <a:t>: 			Support Vector (20.3%)</a:t>
            </a:r>
            <a:endParaRPr sz="1800" b="1">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b="1">
                <a:solidFill>
                  <a:schemeClr val="dk1"/>
                </a:solidFill>
                <a:latin typeface="Lato"/>
                <a:ea typeface="Lato"/>
                <a:cs typeface="Lato"/>
                <a:sym typeface="Lato"/>
              </a:rPr>
              <a:t>Classification</a:t>
            </a:r>
            <a:endParaRPr sz="1800" b="1">
              <a:solidFill>
                <a:schemeClr val="dk1"/>
              </a:solidFill>
              <a:latin typeface="Lato"/>
              <a:ea typeface="Lato"/>
              <a:cs typeface="Lato"/>
              <a:sym typeface="Lato"/>
            </a:endParaRPr>
          </a:p>
          <a:p>
            <a:pPr marL="1371600" lvl="1"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Accuracy: 	RF / XGB (0.71)</a:t>
            </a:r>
            <a:endParaRPr sz="1800">
              <a:solidFill>
                <a:schemeClr val="dk1"/>
              </a:solidFill>
              <a:latin typeface="Lato Light"/>
              <a:ea typeface="Lato Light"/>
              <a:cs typeface="Lato Light"/>
              <a:sym typeface="Lato Light"/>
            </a:endParaRPr>
          </a:p>
          <a:p>
            <a:pPr marL="1371600" lvl="1"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F1: 			Support Vector (0.70)</a:t>
            </a:r>
            <a:endParaRPr sz="1800" b="1">
              <a:solidFill>
                <a:schemeClr val="dk1"/>
              </a:solidFill>
              <a:latin typeface="Lato"/>
              <a:ea typeface="Lato"/>
              <a:cs typeface="Lato"/>
              <a:sym typeface="Lato"/>
            </a:endParaRPr>
          </a:p>
          <a:p>
            <a:pPr marL="1371600" lvl="1"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AUC: 		Random Forest (0.756)</a:t>
            </a:r>
            <a:endParaRPr sz="1800" b="1">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Light"/>
              <a:buChar char="●"/>
            </a:pPr>
            <a:r>
              <a:rPr lang="en" sz="1800">
                <a:solidFill>
                  <a:schemeClr val="dk1"/>
                </a:solidFill>
                <a:latin typeface="Lato Light"/>
                <a:ea typeface="Lato Light"/>
                <a:cs typeface="Lato Light"/>
                <a:sym typeface="Lato Light"/>
              </a:rPr>
              <a:t>Overall, the Random Forest Regression and Classification models were chosen as the best models in terms of minimization of error, correct classification rate, and interpretability.</a:t>
            </a:r>
            <a:endParaRPr sz="1800">
              <a:solidFill>
                <a:schemeClr val="dk1"/>
              </a:solidFill>
              <a:latin typeface="Lato Light"/>
              <a:ea typeface="Lato Light"/>
              <a:cs typeface="Lato Light"/>
              <a:sym typeface="Lato 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0"/>
          <p:cNvSpPr txBox="1">
            <a:spLocks noGrp="1"/>
          </p:cNvSpPr>
          <p:nvPr>
            <p:ph type="ctrTitle"/>
          </p:nvPr>
        </p:nvSpPr>
        <p:spPr>
          <a:xfrm>
            <a:off x="1143000" y="1963600"/>
            <a:ext cx="6858000" cy="11262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4500" b="1"/>
              <a:t>Conclusions</a:t>
            </a:r>
            <a:endParaRPr sz="4500" b="1"/>
          </a:p>
        </p:txBody>
      </p:sp>
      <p:cxnSp>
        <p:nvCxnSpPr>
          <p:cNvPr id="404" name="Google Shape;404;p50"/>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405" name="Google Shape;405;p50"/>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9"/>
        <p:cNvGrpSpPr/>
        <p:nvPr/>
      </p:nvGrpSpPr>
      <p:grpSpPr>
        <a:xfrm>
          <a:off x="0" y="0"/>
          <a:ext cx="0" cy="0"/>
          <a:chOff x="0" y="0"/>
          <a:chExt cx="0" cy="0"/>
        </a:xfrm>
      </p:grpSpPr>
      <p:sp>
        <p:nvSpPr>
          <p:cNvPr id="410" name="Google Shape;410;p51"/>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accent4"/>
              </a:buClr>
              <a:buSzPts val="1100"/>
              <a:buFont typeface="Arial"/>
              <a:buNone/>
            </a:pPr>
            <a:r>
              <a:rPr lang="en"/>
              <a:t>Conclusions</a:t>
            </a:r>
            <a:endParaRPr/>
          </a:p>
        </p:txBody>
      </p:sp>
      <p:sp>
        <p:nvSpPr>
          <p:cNvPr id="411" name="Google Shape;411;p51"/>
          <p:cNvSpPr/>
          <p:nvPr/>
        </p:nvSpPr>
        <p:spPr>
          <a:xfrm>
            <a:off x="1158125" y="2144875"/>
            <a:ext cx="2277000" cy="2694600"/>
          </a:xfrm>
          <a:prstGeom prst="roundRect">
            <a:avLst>
              <a:gd name="adj" fmla="val 16667"/>
            </a:avLst>
          </a:prstGeom>
          <a:solidFill>
            <a:schemeClr val="l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2"/>
                </a:solidFill>
                <a:latin typeface="Lato"/>
                <a:ea typeface="Lato"/>
                <a:cs typeface="Lato"/>
                <a:sym typeface="Lato"/>
              </a:rPr>
              <a:t>Max R^2 ~ 20%, indicating the various features in the models explain little variability in view count</a:t>
            </a:r>
            <a:endParaRPr>
              <a:solidFill>
                <a:schemeClr val="dk2"/>
              </a:solidFill>
              <a:latin typeface="Lato Light"/>
              <a:ea typeface="Lato Light"/>
              <a:cs typeface="Lato Light"/>
              <a:sym typeface="Lato Light"/>
            </a:endParaRPr>
          </a:p>
        </p:txBody>
      </p:sp>
      <p:sp>
        <p:nvSpPr>
          <p:cNvPr id="412" name="Google Shape;412;p51"/>
          <p:cNvSpPr/>
          <p:nvPr/>
        </p:nvSpPr>
        <p:spPr>
          <a:xfrm>
            <a:off x="3855875" y="2144900"/>
            <a:ext cx="2277000" cy="2694600"/>
          </a:xfrm>
          <a:prstGeom prst="roundRect">
            <a:avLst>
              <a:gd name="adj" fmla="val 16667"/>
            </a:avLst>
          </a:prstGeom>
          <a:solidFill>
            <a:schemeClr val="l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2"/>
                </a:solidFill>
                <a:latin typeface="Lato"/>
                <a:ea typeface="Lato"/>
                <a:cs typeface="Lato"/>
                <a:sym typeface="Lato"/>
              </a:rPr>
              <a:t>Predicting virality with classification models is likely more interpretable and practical for music producers/artists</a:t>
            </a:r>
            <a:endParaRPr>
              <a:solidFill>
                <a:schemeClr val="dk2"/>
              </a:solidFill>
              <a:latin typeface="Lato Light"/>
              <a:ea typeface="Lato Light"/>
              <a:cs typeface="Lato Light"/>
              <a:sym typeface="Lato Light"/>
            </a:endParaRPr>
          </a:p>
        </p:txBody>
      </p:sp>
      <p:sp>
        <p:nvSpPr>
          <p:cNvPr id="413" name="Google Shape;413;p51"/>
          <p:cNvSpPr/>
          <p:nvPr/>
        </p:nvSpPr>
        <p:spPr>
          <a:xfrm>
            <a:off x="6440250" y="2144900"/>
            <a:ext cx="2277000" cy="2694600"/>
          </a:xfrm>
          <a:prstGeom prst="roundRect">
            <a:avLst>
              <a:gd name="adj" fmla="val 16667"/>
            </a:avLst>
          </a:prstGeom>
          <a:solidFill>
            <a:schemeClr val="l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2"/>
                </a:solidFill>
                <a:latin typeface="Lato"/>
                <a:ea typeface="Lato"/>
                <a:cs typeface="Lato"/>
                <a:sym typeface="Lato"/>
              </a:rPr>
              <a:t>There are clear factors that are important/predictive of the virality of a song. These allow us to make clear predictions.</a:t>
            </a:r>
            <a:endParaRPr>
              <a:solidFill>
                <a:schemeClr val="dk2"/>
              </a:solidFill>
              <a:latin typeface="Lato Light"/>
              <a:ea typeface="Lato Light"/>
              <a:cs typeface="Lato Light"/>
              <a:sym typeface="Lato Light"/>
            </a:endParaRPr>
          </a:p>
        </p:txBody>
      </p:sp>
      <p:sp>
        <p:nvSpPr>
          <p:cNvPr id="414" name="Google Shape;414;p51"/>
          <p:cNvSpPr/>
          <p:nvPr/>
        </p:nvSpPr>
        <p:spPr>
          <a:xfrm>
            <a:off x="1158025" y="1370450"/>
            <a:ext cx="2277000" cy="5844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Lato"/>
                <a:ea typeface="Lato"/>
                <a:cs typeface="Lato"/>
                <a:sym typeface="Lato"/>
              </a:rPr>
              <a:t>R^2</a:t>
            </a:r>
            <a:endParaRPr sz="1600" b="1">
              <a:solidFill>
                <a:schemeClr val="lt1"/>
              </a:solidFill>
              <a:latin typeface="Lato"/>
              <a:ea typeface="Lato"/>
              <a:cs typeface="Lato"/>
              <a:sym typeface="Lato"/>
            </a:endParaRPr>
          </a:p>
        </p:txBody>
      </p:sp>
      <p:sp>
        <p:nvSpPr>
          <p:cNvPr id="415" name="Google Shape;415;p51"/>
          <p:cNvSpPr/>
          <p:nvPr/>
        </p:nvSpPr>
        <p:spPr>
          <a:xfrm>
            <a:off x="3855875" y="1373775"/>
            <a:ext cx="2277000" cy="5844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Lato"/>
                <a:ea typeface="Lato"/>
                <a:cs typeface="Lato"/>
                <a:sym typeface="Lato"/>
              </a:rPr>
              <a:t>Response Type</a:t>
            </a:r>
            <a:endParaRPr sz="1600" b="1">
              <a:solidFill>
                <a:schemeClr val="lt1"/>
              </a:solidFill>
              <a:latin typeface="Lato"/>
              <a:ea typeface="Lato"/>
              <a:cs typeface="Lato"/>
              <a:sym typeface="Lato"/>
            </a:endParaRPr>
          </a:p>
        </p:txBody>
      </p:sp>
      <p:sp>
        <p:nvSpPr>
          <p:cNvPr id="416" name="Google Shape;416;p51"/>
          <p:cNvSpPr/>
          <p:nvPr/>
        </p:nvSpPr>
        <p:spPr>
          <a:xfrm>
            <a:off x="6440250" y="1373775"/>
            <a:ext cx="2277000" cy="5844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Lato"/>
                <a:ea typeface="Lato"/>
                <a:cs typeface="Lato"/>
                <a:sym typeface="Lato"/>
              </a:rPr>
              <a:t>Important Predictors</a:t>
            </a:r>
            <a:endParaRPr sz="1600" b="1">
              <a:solidFill>
                <a:schemeClr val="lt1"/>
              </a:solidFill>
              <a:latin typeface="Lato"/>
              <a:ea typeface="Lato"/>
              <a:cs typeface="Lato"/>
              <a:sym typeface="La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Recommendations</a:t>
            </a:r>
            <a:endParaRPr/>
          </a:p>
        </p:txBody>
      </p:sp>
      <p:sp>
        <p:nvSpPr>
          <p:cNvPr id="422" name="Google Shape;422;p52"/>
          <p:cNvSpPr txBox="1">
            <a:spLocks noGrp="1"/>
          </p:cNvSpPr>
          <p:nvPr>
            <p:ph type="body" idx="1"/>
          </p:nvPr>
        </p:nvSpPr>
        <p:spPr>
          <a:xfrm>
            <a:off x="1125575" y="1480875"/>
            <a:ext cx="77661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200" b="1">
                <a:latin typeface="Lato"/>
                <a:ea typeface="Lato"/>
                <a:cs typeface="Lato"/>
                <a:sym typeface="Lato"/>
              </a:rPr>
              <a:t>Produce songs with veteran and experienced artists</a:t>
            </a:r>
            <a:endParaRPr sz="2200" b="1">
              <a:latin typeface="Lato"/>
              <a:ea typeface="Lato"/>
              <a:cs typeface="Lato"/>
              <a:sym typeface="Lato"/>
            </a:endParaRPr>
          </a:p>
        </p:txBody>
      </p:sp>
      <p:sp>
        <p:nvSpPr>
          <p:cNvPr id="423" name="Google Shape;423;p52"/>
          <p:cNvSpPr/>
          <p:nvPr/>
        </p:nvSpPr>
        <p:spPr>
          <a:xfrm>
            <a:off x="328125" y="1480884"/>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1</a:t>
            </a:r>
            <a:endParaRPr sz="2605" b="1">
              <a:solidFill>
                <a:schemeClr val="lt1"/>
              </a:solidFill>
              <a:latin typeface="Lato"/>
              <a:ea typeface="Lato"/>
              <a:cs typeface="Lato"/>
              <a:sym typeface="Lato"/>
            </a:endParaRPr>
          </a:p>
        </p:txBody>
      </p:sp>
      <p:sp>
        <p:nvSpPr>
          <p:cNvPr id="424" name="Google Shape;424;p52"/>
          <p:cNvSpPr/>
          <p:nvPr/>
        </p:nvSpPr>
        <p:spPr>
          <a:xfrm>
            <a:off x="328125" y="2249863"/>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2</a:t>
            </a:r>
            <a:endParaRPr sz="2605" b="1">
              <a:solidFill>
                <a:schemeClr val="lt1"/>
              </a:solidFill>
              <a:latin typeface="Lato"/>
              <a:ea typeface="Lato"/>
              <a:cs typeface="Lato"/>
              <a:sym typeface="Lato"/>
            </a:endParaRPr>
          </a:p>
        </p:txBody>
      </p:sp>
      <p:sp>
        <p:nvSpPr>
          <p:cNvPr id="425" name="Google Shape;425;p52"/>
          <p:cNvSpPr/>
          <p:nvPr/>
        </p:nvSpPr>
        <p:spPr>
          <a:xfrm>
            <a:off x="328125" y="3018870"/>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3</a:t>
            </a:r>
            <a:endParaRPr sz="2605" b="1">
              <a:solidFill>
                <a:schemeClr val="lt1"/>
              </a:solidFill>
              <a:latin typeface="Lato"/>
              <a:ea typeface="Lato"/>
              <a:cs typeface="Lato"/>
              <a:sym typeface="Lato"/>
            </a:endParaRPr>
          </a:p>
        </p:txBody>
      </p:sp>
      <p:sp>
        <p:nvSpPr>
          <p:cNvPr id="426" name="Google Shape;426;p52"/>
          <p:cNvSpPr txBox="1">
            <a:spLocks noGrp="1"/>
          </p:cNvSpPr>
          <p:nvPr>
            <p:ph type="body" idx="1"/>
          </p:nvPr>
        </p:nvSpPr>
        <p:spPr>
          <a:xfrm>
            <a:off x="1125575" y="2249858"/>
            <a:ext cx="77661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200" b="1">
                <a:latin typeface="Lato"/>
                <a:ea typeface="Lato"/>
                <a:cs typeface="Lato"/>
                <a:sym typeface="Lato"/>
              </a:rPr>
              <a:t>Produce songs for reggae and pop artists over country</a:t>
            </a:r>
            <a:endParaRPr sz="2200" b="1">
              <a:latin typeface="Lato"/>
              <a:ea typeface="Lato"/>
              <a:cs typeface="Lato"/>
              <a:sym typeface="Lato"/>
            </a:endParaRPr>
          </a:p>
        </p:txBody>
      </p:sp>
      <p:sp>
        <p:nvSpPr>
          <p:cNvPr id="427" name="Google Shape;427;p52"/>
          <p:cNvSpPr txBox="1">
            <a:spLocks noGrp="1"/>
          </p:cNvSpPr>
          <p:nvPr>
            <p:ph type="body" idx="1"/>
          </p:nvPr>
        </p:nvSpPr>
        <p:spPr>
          <a:xfrm>
            <a:off x="1125575" y="3018874"/>
            <a:ext cx="7766100" cy="563100"/>
          </a:xfrm>
          <a:prstGeom prst="rect">
            <a:avLst/>
          </a:prstGeom>
        </p:spPr>
        <p:txBody>
          <a:bodyPr spcFirstLastPara="1" wrap="square" lIns="103575" tIns="103575" rIns="103575" bIns="103575" anchor="ctr" anchorCtr="0">
            <a:normAutofit/>
          </a:bodyPr>
          <a:lstStyle/>
          <a:p>
            <a:pPr marL="0" lvl="0" indent="0" algn="l" rtl="0">
              <a:spcBef>
                <a:spcPts val="906"/>
              </a:spcBef>
              <a:spcAft>
                <a:spcPts val="0"/>
              </a:spcAft>
              <a:buNone/>
            </a:pPr>
            <a:r>
              <a:rPr lang="en" sz="2200" b="1">
                <a:latin typeface="Lato"/>
                <a:ea typeface="Lato"/>
                <a:cs typeface="Lato"/>
                <a:sym typeface="Lato"/>
              </a:rPr>
              <a:t>Appeal to viewers with louder, more repetitive songs</a:t>
            </a:r>
            <a:endParaRPr sz="2200" b="1">
              <a:latin typeface="Lato"/>
              <a:ea typeface="Lato"/>
              <a:cs typeface="Lato"/>
              <a:sym typeface="Lato"/>
            </a:endParaRPr>
          </a:p>
        </p:txBody>
      </p:sp>
      <p:sp>
        <p:nvSpPr>
          <p:cNvPr id="428" name="Google Shape;428;p52"/>
          <p:cNvSpPr/>
          <p:nvPr/>
        </p:nvSpPr>
        <p:spPr>
          <a:xfrm>
            <a:off x="328125" y="3787870"/>
            <a:ext cx="602100" cy="563100"/>
          </a:xfrm>
          <a:prstGeom prst="ellipse">
            <a:avLst/>
          </a:prstGeom>
          <a:solidFill>
            <a:schemeClr val="dk2"/>
          </a:solidFill>
          <a:ln w="10800" cap="flat" cmpd="sng">
            <a:solidFill>
              <a:schemeClr val="dk2"/>
            </a:solidFill>
            <a:prstDash val="solid"/>
            <a:round/>
            <a:headEnd type="none" w="sm" len="sm"/>
            <a:tailEnd type="none" w="sm" len="sm"/>
          </a:ln>
        </p:spPr>
        <p:txBody>
          <a:bodyPr spcFirstLastPara="1" wrap="square" lIns="103575" tIns="103575" rIns="103575" bIns="103575" anchor="ctr" anchorCtr="0">
            <a:noAutofit/>
          </a:bodyPr>
          <a:lstStyle/>
          <a:p>
            <a:pPr marL="0" lvl="0" indent="0" algn="ctr" rtl="0">
              <a:spcBef>
                <a:spcPts val="0"/>
              </a:spcBef>
              <a:spcAft>
                <a:spcPts val="0"/>
              </a:spcAft>
              <a:buNone/>
            </a:pPr>
            <a:r>
              <a:rPr lang="en" sz="2605" b="1">
                <a:solidFill>
                  <a:schemeClr val="lt1"/>
                </a:solidFill>
                <a:latin typeface="Lato"/>
                <a:ea typeface="Lato"/>
                <a:cs typeface="Lato"/>
                <a:sym typeface="Lato"/>
              </a:rPr>
              <a:t>4</a:t>
            </a:r>
            <a:endParaRPr sz="2605" b="1">
              <a:solidFill>
                <a:schemeClr val="lt1"/>
              </a:solidFill>
              <a:latin typeface="Lato"/>
              <a:ea typeface="Lato"/>
              <a:cs typeface="Lato"/>
              <a:sym typeface="Lato"/>
            </a:endParaRPr>
          </a:p>
        </p:txBody>
      </p:sp>
      <p:sp>
        <p:nvSpPr>
          <p:cNvPr id="429" name="Google Shape;429;p52"/>
          <p:cNvSpPr txBox="1">
            <a:spLocks noGrp="1"/>
          </p:cNvSpPr>
          <p:nvPr>
            <p:ph type="body" idx="1"/>
          </p:nvPr>
        </p:nvSpPr>
        <p:spPr>
          <a:xfrm>
            <a:off x="1125575" y="3787874"/>
            <a:ext cx="7766100" cy="563100"/>
          </a:xfrm>
          <a:prstGeom prst="rect">
            <a:avLst/>
          </a:prstGeom>
        </p:spPr>
        <p:txBody>
          <a:bodyPr spcFirstLastPara="1" wrap="square" lIns="103575" tIns="103575" rIns="103575" bIns="103575" anchor="ctr" anchorCtr="0">
            <a:normAutofit fontScale="92500"/>
          </a:bodyPr>
          <a:lstStyle/>
          <a:p>
            <a:pPr marL="0" lvl="0" indent="0" algn="l" rtl="0">
              <a:spcBef>
                <a:spcPts val="906"/>
              </a:spcBef>
              <a:spcAft>
                <a:spcPts val="0"/>
              </a:spcAft>
              <a:buNone/>
            </a:pPr>
            <a:r>
              <a:rPr lang="en" sz="2378" b="1">
                <a:latin typeface="Lato"/>
                <a:ea typeface="Lato"/>
                <a:cs typeface="Lato"/>
                <a:sym typeface="Lato"/>
              </a:rPr>
              <a:t>Restrict the use of expletives and slang to increase virality</a:t>
            </a:r>
            <a:endParaRPr sz="2378" b="1">
              <a:latin typeface="Lato"/>
              <a:ea typeface="Lato"/>
              <a:cs typeface="Lato"/>
              <a:sym typeface="La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3"/>
        <p:cNvGrpSpPr/>
        <p:nvPr/>
      </p:nvGrpSpPr>
      <p:grpSpPr>
        <a:xfrm>
          <a:off x="0" y="0"/>
          <a:ext cx="0" cy="0"/>
          <a:chOff x="0" y="0"/>
          <a:chExt cx="0" cy="0"/>
        </a:xfrm>
      </p:grpSpPr>
      <p:sp>
        <p:nvSpPr>
          <p:cNvPr id="434" name="Google Shape;434;p53"/>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lnSpc>
                <a:spcPct val="100000"/>
              </a:lnSpc>
              <a:spcBef>
                <a:spcPts val="0"/>
              </a:spcBef>
              <a:spcAft>
                <a:spcPts val="0"/>
              </a:spcAft>
              <a:buNone/>
            </a:pPr>
            <a:r>
              <a:rPr lang="en"/>
              <a:t>Limitations</a:t>
            </a:r>
            <a:endParaRPr/>
          </a:p>
        </p:txBody>
      </p:sp>
      <p:sp>
        <p:nvSpPr>
          <p:cNvPr id="435" name="Google Shape;435;p53"/>
          <p:cNvSpPr/>
          <p:nvPr/>
        </p:nvSpPr>
        <p:spPr>
          <a:xfrm>
            <a:off x="1158125" y="2144875"/>
            <a:ext cx="2277000" cy="26946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Lato"/>
                <a:ea typeface="Lato"/>
                <a:cs typeface="Lato"/>
                <a:sym typeface="Lato"/>
              </a:rPr>
              <a:t>We don’t have the necessary data about the videos themselves (such as specific visual features) to fully encapsulate the predictions of the music videos’ success.</a:t>
            </a:r>
            <a:endParaRPr>
              <a:latin typeface="Lato Light"/>
              <a:ea typeface="Lato Light"/>
              <a:cs typeface="Lato Light"/>
              <a:sym typeface="Lato Light"/>
            </a:endParaRPr>
          </a:p>
        </p:txBody>
      </p:sp>
      <p:sp>
        <p:nvSpPr>
          <p:cNvPr id="436" name="Google Shape;436;p53"/>
          <p:cNvSpPr/>
          <p:nvPr/>
        </p:nvSpPr>
        <p:spPr>
          <a:xfrm>
            <a:off x="3855875" y="2144900"/>
            <a:ext cx="2277000" cy="26946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Lato"/>
                <a:ea typeface="Lato"/>
                <a:cs typeface="Lato"/>
                <a:sym typeface="Lato"/>
              </a:rPr>
              <a:t>chart_year should not be used in future models as it may predict YouTube popularity instead of song popularity.</a:t>
            </a:r>
            <a:endParaRPr>
              <a:latin typeface="Lato Light"/>
              <a:ea typeface="Lato Light"/>
              <a:cs typeface="Lato Light"/>
              <a:sym typeface="Lato Light"/>
            </a:endParaRPr>
          </a:p>
        </p:txBody>
      </p:sp>
      <p:sp>
        <p:nvSpPr>
          <p:cNvPr id="437" name="Google Shape;437;p53"/>
          <p:cNvSpPr/>
          <p:nvPr/>
        </p:nvSpPr>
        <p:spPr>
          <a:xfrm>
            <a:off x="6440250" y="2144900"/>
            <a:ext cx="2277000" cy="26946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Lato"/>
                <a:ea typeface="Lato"/>
                <a:cs typeface="Lato"/>
                <a:sym typeface="Lato"/>
              </a:rPr>
              <a:t>There are no predictors that indicate the cultural norms, celebrity scandals, etc. of the time period as they relate to music video views.</a:t>
            </a:r>
            <a:endParaRPr>
              <a:latin typeface="Lato Light"/>
              <a:ea typeface="Lato Light"/>
              <a:cs typeface="Lato Light"/>
              <a:sym typeface="Lato Light"/>
            </a:endParaRPr>
          </a:p>
        </p:txBody>
      </p:sp>
      <p:sp>
        <p:nvSpPr>
          <p:cNvPr id="438" name="Google Shape;438;p53"/>
          <p:cNvSpPr/>
          <p:nvPr/>
        </p:nvSpPr>
        <p:spPr>
          <a:xfrm>
            <a:off x="1158025" y="1370450"/>
            <a:ext cx="2277000" cy="5844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2"/>
                </a:solidFill>
                <a:latin typeface="Lato"/>
                <a:ea typeface="Lato"/>
                <a:cs typeface="Lato"/>
                <a:sym typeface="Lato"/>
              </a:rPr>
              <a:t>Additional Predictors</a:t>
            </a:r>
            <a:endParaRPr sz="1600" b="1">
              <a:solidFill>
                <a:schemeClr val="dk2"/>
              </a:solidFill>
              <a:latin typeface="Lato"/>
              <a:ea typeface="Lato"/>
              <a:cs typeface="Lato"/>
              <a:sym typeface="Lato"/>
            </a:endParaRPr>
          </a:p>
        </p:txBody>
      </p:sp>
      <p:sp>
        <p:nvSpPr>
          <p:cNvPr id="439" name="Google Shape;439;p53"/>
          <p:cNvSpPr/>
          <p:nvPr/>
        </p:nvSpPr>
        <p:spPr>
          <a:xfrm>
            <a:off x="3855875" y="1373775"/>
            <a:ext cx="2277000" cy="5844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2"/>
                </a:solidFill>
                <a:latin typeface="Lato"/>
                <a:ea typeface="Lato"/>
                <a:cs typeface="Lato"/>
                <a:sym typeface="Lato"/>
              </a:rPr>
              <a:t>chart_year</a:t>
            </a:r>
            <a:endParaRPr sz="1600" b="1">
              <a:solidFill>
                <a:schemeClr val="dk2"/>
              </a:solidFill>
              <a:latin typeface="Lato"/>
              <a:ea typeface="Lato"/>
              <a:cs typeface="Lato"/>
              <a:sym typeface="Lato"/>
            </a:endParaRPr>
          </a:p>
        </p:txBody>
      </p:sp>
      <p:sp>
        <p:nvSpPr>
          <p:cNvPr id="440" name="Google Shape;440;p53"/>
          <p:cNvSpPr/>
          <p:nvPr/>
        </p:nvSpPr>
        <p:spPr>
          <a:xfrm>
            <a:off x="6440250" y="1373775"/>
            <a:ext cx="2277000" cy="5844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2"/>
                </a:solidFill>
                <a:latin typeface="Lato"/>
                <a:ea typeface="Lato"/>
                <a:cs typeface="Lato"/>
                <a:sym typeface="Lato"/>
              </a:rPr>
              <a:t>Cultural Context</a:t>
            </a:r>
            <a:endParaRPr sz="1600" b="1">
              <a:solidFill>
                <a:schemeClr val="dk2"/>
              </a:solidFill>
              <a:latin typeface="Lato"/>
              <a:ea typeface="Lato"/>
              <a:cs typeface="Lato"/>
              <a:sym typeface="La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54"/>
          <p:cNvSpPr txBox="1">
            <a:spLocks noGrp="1"/>
          </p:cNvSpPr>
          <p:nvPr>
            <p:ph type="ctrTitle"/>
          </p:nvPr>
        </p:nvSpPr>
        <p:spPr>
          <a:xfrm>
            <a:off x="1143000" y="1963600"/>
            <a:ext cx="6858000" cy="11262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4500" b="1"/>
              <a:t>Thank you</a:t>
            </a:r>
            <a:endParaRPr/>
          </a:p>
        </p:txBody>
      </p:sp>
      <p:sp>
        <p:nvSpPr>
          <p:cNvPr id="446" name="Google Shape;446;p54"/>
          <p:cNvSpPr txBox="1">
            <a:spLocks noGrp="1"/>
          </p:cNvSpPr>
          <p:nvPr>
            <p:ph type="subTitle" idx="1"/>
          </p:nvPr>
        </p:nvSpPr>
        <p:spPr>
          <a:xfrm>
            <a:off x="1143000" y="3176293"/>
            <a:ext cx="6858000" cy="1241700"/>
          </a:xfrm>
          <a:prstGeom prst="rect">
            <a:avLst/>
          </a:prstGeom>
        </p:spPr>
        <p:txBody>
          <a:bodyPr spcFirstLastPara="1" wrap="square" lIns="68575" tIns="34275" rIns="68575" bIns="34275" anchor="t" anchorCtr="0">
            <a:normAutofit/>
          </a:bodyPr>
          <a:lstStyle/>
          <a:p>
            <a:pPr marL="0" lvl="0" indent="0" algn="ctr" rtl="0">
              <a:spcBef>
                <a:spcPts val="800"/>
              </a:spcBef>
              <a:spcAft>
                <a:spcPts val="0"/>
              </a:spcAft>
              <a:buNone/>
            </a:pPr>
            <a:r>
              <a:rPr lang="en" b="1">
                <a:latin typeface="Lato"/>
                <a:ea typeface="Lato"/>
                <a:cs typeface="Lato"/>
                <a:sym typeface="Lato"/>
              </a:rPr>
              <a:t>Questions?</a:t>
            </a:r>
            <a:endParaRPr b="1">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5"/>
          <p:cNvSpPr txBox="1">
            <a:spLocks noGrp="1"/>
          </p:cNvSpPr>
          <p:nvPr>
            <p:ph type="ctrTitle"/>
          </p:nvPr>
        </p:nvSpPr>
        <p:spPr>
          <a:xfrm>
            <a:off x="1143000" y="1963600"/>
            <a:ext cx="6858000" cy="11262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4500" b="1"/>
              <a:t>References</a:t>
            </a:r>
            <a:endParaRPr sz="4500" b="1"/>
          </a:p>
        </p:txBody>
      </p:sp>
      <p:cxnSp>
        <p:nvCxnSpPr>
          <p:cNvPr id="452" name="Google Shape;452;p55"/>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453" name="Google Shape;453;p55"/>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7"/>
        <p:cNvGrpSpPr/>
        <p:nvPr/>
      </p:nvGrpSpPr>
      <p:grpSpPr>
        <a:xfrm>
          <a:off x="0" y="0"/>
          <a:ext cx="0" cy="0"/>
          <a:chOff x="0" y="0"/>
          <a:chExt cx="0" cy="0"/>
        </a:xfrm>
      </p:grpSpPr>
      <p:sp>
        <p:nvSpPr>
          <p:cNvPr id="458" name="Google Shape;458;p56"/>
          <p:cNvSpPr txBox="1">
            <a:spLocks noGrp="1"/>
          </p:cNvSpPr>
          <p:nvPr>
            <p:ph type="title"/>
          </p:nvPr>
        </p:nvSpPr>
        <p:spPr>
          <a:xfrm>
            <a:off x="1359878" y="273844"/>
            <a:ext cx="71556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References</a:t>
            </a:r>
            <a:endParaRPr/>
          </a:p>
        </p:txBody>
      </p:sp>
      <p:sp>
        <p:nvSpPr>
          <p:cNvPr id="459" name="Google Shape;459;p56"/>
          <p:cNvSpPr txBox="1">
            <a:spLocks noGrp="1"/>
          </p:cNvSpPr>
          <p:nvPr>
            <p:ph type="body" idx="1"/>
          </p:nvPr>
        </p:nvSpPr>
        <p:spPr>
          <a:xfrm>
            <a:off x="1359878" y="1369219"/>
            <a:ext cx="7155600" cy="3263400"/>
          </a:xfrm>
          <a:prstGeom prst="rect">
            <a:avLst/>
          </a:prstGeom>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en" sz="1500"/>
              <a:t>Araujo, C. V.S., Cristo, M. A.P., Giusti, R. (25 September, 2019). Predicting </a:t>
            </a:r>
            <a:endParaRPr sz="1500"/>
          </a:p>
          <a:p>
            <a:pPr marL="0" lvl="0" indent="457200" algn="l" rtl="0">
              <a:lnSpc>
                <a:spcPct val="100000"/>
              </a:lnSpc>
              <a:spcBef>
                <a:spcPts val="800"/>
              </a:spcBef>
              <a:spcAft>
                <a:spcPts val="0"/>
              </a:spcAft>
              <a:buNone/>
            </a:pPr>
            <a:r>
              <a:rPr lang="en" sz="1500"/>
              <a:t>music popularity on streaming platforms. SBC Open Lib. </a:t>
            </a:r>
            <a:endParaRPr sz="1500"/>
          </a:p>
          <a:p>
            <a:pPr marL="457200" lvl="0" indent="0" algn="l" rtl="0">
              <a:lnSpc>
                <a:spcPct val="100000"/>
              </a:lnSpc>
              <a:spcBef>
                <a:spcPts val="800"/>
              </a:spcBef>
              <a:spcAft>
                <a:spcPts val="0"/>
              </a:spcAft>
              <a:buNone/>
            </a:pPr>
            <a:r>
              <a:rPr lang="en" sz="1500"/>
              <a:t>https://doi.org/10.5753/sbcm.2019.10436</a:t>
            </a:r>
            <a:endParaRPr sz="1500"/>
          </a:p>
          <a:p>
            <a:pPr marL="0" lvl="0" indent="0" algn="l" rtl="0">
              <a:lnSpc>
                <a:spcPct val="100000"/>
              </a:lnSpc>
              <a:spcBef>
                <a:spcPts val="800"/>
              </a:spcBef>
              <a:spcAft>
                <a:spcPts val="0"/>
              </a:spcAft>
              <a:buNone/>
            </a:pPr>
            <a:r>
              <a:rPr lang="en" sz="1500"/>
              <a:t>Dixon, S. J. (26 March, 2025). Most popular social networks worldwide </a:t>
            </a:r>
            <a:endParaRPr sz="1500"/>
          </a:p>
          <a:p>
            <a:pPr marL="0" lvl="0" indent="457200" algn="l" rtl="0">
              <a:lnSpc>
                <a:spcPct val="100000"/>
              </a:lnSpc>
              <a:spcBef>
                <a:spcPts val="800"/>
              </a:spcBef>
              <a:spcAft>
                <a:spcPts val="0"/>
              </a:spcAft>
              <a:buNone/>
            </a:pPr>
            <a:r>
              <a:rPr lang="en" sz="1500"/>
              <a:t>as of February 2025, by number of monthly users. Statista. </a:t>
            </a:r>
            <a:endParaRPr sz="1500"/>
          </a:p>
          <a:p>
            <a:pPr marL="0" lvl="0" indent="457200" algn="l" rtl="0">
              <a:lnSpc>
                <a:spcPct val="100000"/>
              </a:lnSpc>
              <a:spcBef>
                <a:spcPts val="800"/>
              </a:spcBef>
              <a:spcAft>
                <a:spcPts val="0"/>
              </a:spcAft>
              <a:buNone/>
            </a:pPr>
            <a:r>
              <a:rPr lang="en" sz="1500"/>
              <a:t>https://www.statista.com/statistics/272014/global-social-networks</a:t>
            </a:r>
            <a:endParaRPr sz="1500"/>
          </a:p>
          <a:p>
            <a:pPr marL="0" lvl="0" indent="457200" algn="l" rtl="0">
              <a:lnSpc>
                <a:spcPct val="100000"/>
              </a:lnSpc>
              <a:spcBef>
                <a:spcPts val="800"/>
              </a:spcBef>
              <a:spcAft>
                <a:spcPts val="0"/>
              </a:spcAft>
              <a:buNone/>
            </a:pPr>
            <a:r>
              <a:rPr lang="en" sz="1500"/>
              <a:t>-ranked-by-number-of-users/</a:t>
            </a:r>
            <a:endParaRPr sz="1500"/>
          </a:p>
          <a:p>
            <a:pPr marL="0" lvl="0" indent="0" algn="l" rtl="0">
              <a:lnSpc>
                <a:spcPct val="100000"/>
              </a:lnSpc>
              <a:spcBef>
                <a:spcPts val="800"/>
              </a:spcBef>
              <a:spcAft>
                <a:spcPts val="0"/>
              </a:spcAft>
              <a:buNone/>
            </a:pPr>
            <a:r>
              <a:rPr lang="en" sz="1500"/>
              <a:t>O’Brien, C. (February 15, 2023). Case Study: How Artists and Songs Go </a:t>
            </a:r>
            <a:endParaRPr sz="1500"/>
          </a:p>
          <a:p>
            <a:pPr marL="0" lvl="0" indent="457200" algn="l" rtl="0">
              <a:lnSpc>
                <a:spcPct val="100000"/>
              </a:lnSpc>
              <a:spcBef>
                <a:spcPts val="800"/>
              </a:spcBef>
              <a:spcAft>
                <a:spcPts val="0"/>
              </a:spcAft>
              <a:buNone/>
            </a:pPr>
            <a:r>
              <a:rPr lang="en" sz="1500"/>
              <a:t>Viral. EDMProd. </a:t>
            </a:r>
            <a:endParaRPr sz="1500"/>
          </a:p>
          <a:p>
            <a:pPr marL="0" lvl="0" indent="457200" algn="l" rtl="0">
              <a:lnSpc>
                <a:spcPct val="100000"/>
              </a:lnSpc>
              <a:spcBef>
                <a:spcPts val="800"/>
              </a:spcBef>
              <a:spcAft>
                <a:spcPts val="0"/>
              </a:spcAft>
              <a:buNone/>
            </a:pPr>
            <a:r>
              <a:rPr lang="en" sz="1500"/>
              <a:t>https://www.edmprod.com/case-study-how-artists-and-songs-go-viral/</a:t>
            </a:r>
            <a:endParaRPr sz="15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7"/>
          <p:cNvSpPr txBox="1">
            <a:spLocks noGrp="1"/>
          </p:cNvSpPr>
          <p:nvPr>
            <p:ph type="ctrTitle"/>
          </p:nvPr>
        </p:nvSpPr>
        <p:spPr>
          <a:xfrm>
            <a:off x="1143000" y="1963600"/>
            <a:ext cx="6858000" cy="11262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4500" b="1"/>
              <a:t>Appendices</a:t>
            </a:r>
            <a:endParaRPr sz="4500" b="1"/>
          </a:p>
        </p:txBody>
      </p:sp>
      <p:cxnSp>
        <p:nvCxnSpPr>
          <p:cNvPr id="465" name="Google Shape;465;p57"/>
          <p:cNvCxnSpPr/>
          <p:nvPr/>
        </p:nvCxnSpPr>
        <p:spPr>
          <a:xfrm>
            <a:off x="628650" y="3435669"/>
            <a:ext cx="7886700" cy="0"/>
          </a:xfrm>
          <a:prstGeom prst="straightConnector1">
            <a:avLst/>
          </a:prstGeom>
          <a:noFill/>
          <a:ln w="28575" cap="flat" cmpd="sng">
            <a:solidFill>
              <a:schemeClr val="dk2"/>
            </a:solidFill>
            <a:prstDash val="solid"/>
            <a:round/>
            <a:headEnd type="none" w="med" len="med"/>
            <a:tailEnd type="none" w="med" len="med"/>
          </a:ln>
        </p:spPr>
      </p:cxnSp>
      <p:cxnSp>
        <p:nvCxnSpPr>
          <p:cNvPr id="466" name="Google Shape;466;p57"/>
          <p:cNvCxnSpPr/>
          <p:nvPr/>
        </p:nvCxnSpPr>
        <p:spPr>
          <a:xfrm>
            <a:off x="628650" y="1707819"/>
            <a:ext cx="78867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A</a:t>
            </a:r>
            <a:endParaRPr/>
          </a:p>
        </p:txBody>
      </p:sp>
      <p:pic>
        <p:nvPicPr>
          <p:cNvPr id="472" name="Google Shape;472;p58"/>
          <p:cNvPicPr preferRelativeResize="0"/>
          <p:nvPr/>
        </p:nvPicPr>
        <p:blipFill>
          <a:blip r:embed="rId3">
            <a:alphaModFix/>
          </a:blip>
          <a:stretch>
            <a:fillRect/>
          </a:stretch>
        </p:blipFill>
        <p:spPr>
          <a:xfrm>
            <a:off x="2019300" y="1268038"/>
            <a:ext cx="5105400" cy="37433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B</a:t>
            </a:r>
            <a:endParaRPr/>
          </a:p>
        </p:txBody>
      </p:sp>
      <p:pic>
        <p:nvPicPr>
          <p:cNvPr id="478" name="Google Shape;478;p59"/>
          <p:cNvPicPr preferRelativeResize="0"/>
          <p:nvPr/>
        </p:nvPicPr>
        <p:blipFill>
          <a:blip r:embed="rId3">
            <a:alphaModFix/>
          </a:blip>
          <a:stretch>
            <a:fillRect/>
          </a:stretch>
        </p:blipFill>
        <p:spPr>
          <a:xfrm>
            <a:off x="2019300" y="1268038"/>
            <a:ext cx="5105400" cy="37433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6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C</a:t>
            </a:r>
            <a:endParaRPr/>
          </a:p>
        </p:txBody>
      </p:sp>
      <p:pic>
        <p:nvPicPr>
          <p:cNvPr id="484" name="Google Shape;484;p60"/>
          <p:cNvPicPr preferRelativeResize="0"/>
          <p:nvPr/>
        </p:nvPicPr>
        <p:blipFill>
          <a:blip r:embed="rId3">
            <a:alphaModFix/>
          </a:blip>
          <a:stretch>
            <a:fillRect/>
          </a:stretch>
        </p:blipFill>
        <p:spPr>
          <a:xfrm>
            <a:off x="2137050" y="1268044"/>
            <a:ext cx="4869903" cy="357065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D</a:t>
            </a:r>
            <a:endParaRPr/>
          </a:p>
        </p:txBody>
      </p:sp>
      <p:pic>
        <p:nvPicPr>
          <p:cNvPr id="490" name="Google Shape;490;p61"/>
          <p:cNvPicPr preferRelativeResize="0"/>
          <p:nvPr/>
        </p:nvPicPr>
        <p:blipFill>
          <a:blip r:embed="rId3">
            <a:alphaModFix/>
          </a:blip>
          <a:stretch>
            <a:fillRect/>
          </a:stretch>
        </p:blipFill>
        <p:spPr>
          <a:xfrm>
            <a:off x="1787938" y="1268044"/>
            <a:ext cx="5568134" cy="357065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E</a:t>
            </a:r>
            <a:endParaRPr/>
          </a:p>
        </p:txBody>
      </p:sp>
      <p:pic>
        <p:nvPicPr>
          <p:cNvPr id="496" name="Google Shape;496;p62"/>
          <p:cNvPicPr preferRelativeResize="0"/>
          <p:nvPr/>
        </p:nvPicPr>
        <p:blipFill>
          <a:blip r:embed="rId3">
            <a:alphaModFix/>
          </a:blip>
          <a:stretch>
            <a:fillRect/>
          </a:stretch>
        </p:blipFill>
        <p:spPr>
          <a:xfrm>
            <a:off x="1810775" y="1268044"/>
            <a:ext cx="5522441" cy="357065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F</a:t>
            </a:r>
            <a:endParaRPr/>
          </a:p>
        </p:txBody>
      </p:sp>
      <p:pic>
        <p:nvPicPr>
          <p:cNvPr id="502" name="Google Shape;502;p63"/>
          <p:cNvPicPr preferRelativeResize="0"/>
          <p:nvPr/>
        </p:nvPicPr>
        <p:blipFill>
          <a:blip r:embed="rId3">
            <a:alphaModFix/>
          </a:blip>
          <a:stretch>
            <a:fillRect/>
          </a:stretch>
        </p:blipFill>
        <p:spPr>
          <a:xfrm>
            <a:off x="2425337" y="1268050"/>
            <a:ext cx="4293325" cy="37382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Appendix G</a:t>
            </a:r>
            <a:endParaRPr/>
          </a:p>
        </p:txBody>
      </p:sp>
      <p:sp>
        <p:nvSpPr>
          <p:cNvPr id="508" name="Google Shape;508;p64"/>
          <p:cNvSpPr txBox="1"/>
          <p:nvPr/>
        </p:nvSpPr>
        <p:spPr>
          <a:xfrm>
            <a:off x="994200" y="1268050"/>
            <a:ext cx="7155600" cy="3457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b="1" dirty="0">
                <a:solidFill>
                  <a:schemeClr val="dk1"/>
                </a:solidFill>
                <a:latin typeface="Lato"/>
                <a:ea typeface="Lato"/>
                <a:cs typeface="Lato"/>
                <a:sym typeface="Lato"/>
              </a:rPr>
              <a:t>SVM for Regression:</a:t>
            </a:r>
            <a:endParaRPr sz="1800" b="1" dirty="0">
              <a:solidFill>
                <a:schemeClr val="dk1"/>
              </a:solidFill>
              <a:latin typeface="Lato"/>
              <a:ea typeface="Lato"/>
              <a:cs typeface="Lato"/>
              <a:sym typeface="Lato"/>
            </a:endParaRPr>
          </a:p>
          <a:p>
            <a:pPr marL="914400" lvl="0" indent="-342900" algn="l" rtl="0">
              <a:spcBef>
                <a:spcPts val="0"/>
              </a:spcBef>
              <a:spcAft>
                <a:spcPts val="0"/>
              </a:spcAft>
              <a:buClr>
                <a:schemeClr val="dk1"/>
              </a:buClr>
              <a:buSzPts val="1800"/>
              <a:buFont typeface="Lato"/>
              <a:buChar char="●"/>
            </a:pPr>
            <a:r>
              <a:rPr lang="en" sz="1800" dirty="0">
                <a:solidFill>
                  <a:schemeClr val="dk1"/>
                </a:solidFill>
                <a:latin typeface="Lato"/>
                <a:ea typeface="Lato"/>
                <a:cs typeface="Lato"/>
                <a:sym typeface="Lato"/>
              </a:rPr>
              <a:t>Draws a line that predicts values, allowing some error within a tube, and focuses on points that are hardest to predict</a:t>
            </a:r>
            <a:endParaRPr sz="1800" dirty="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b="1" dirty="0">
                <a:solidFill>
                  <a:schemeClr val="dk1"/>
                </a:solidFill>
                <a:latin typeface="Lato"/>
                <a:ea typeface="Lato"/>
                <a:cs typeface="Lato"/>
                <a:sym typeface="Lato"/>
              </a:rPr>
              <a:t>SVM for Classification:</a:t>
            </a:r>
            <a:endParaRPr sz="1800" b="1" dirty="0">
              <a:solidFill>
                <a:schemeClr val="dk1"/>
              </a:solidFill>
              <a:latin typeface="Lato"/>
              <a:ea typeface="Lato"/>
              <a:cs typeface="Lato"/>
              <a:sym typeface="Lato"/>
            </a:endParaRPr>
          </a:p>
          <a:p>
            <a:pPr marL="914400" lvl="0" indent="-342900" algn="l" rtl="0">
              <a:spcBef>
                <a:spcPts val="0"/>
              </a:spcBef>
              <a:spcAft>
                <a:spcPts val="0"/>
              </a:spcAft>
              <a:buClr>
                <a:schemeClr val="dk1"/>
              </a:buClr>
              <a:buSzPts val="1800"/>
              <a:buFont typeface="Lato"/>
              <a:buChar char="●"/>
            </a:pPr>
            <a:r>
              <a:rPr lang="en" sz="1800" dirty="0">
                <a:solidFill>
                  <a:schemeClr val="dk1"/>
                </a:solidFill>
                <a:latin typeface="Lato"/>
                <a:ea typeface="Lato"/>
                <a:cs typeface="Lato"/>
                <a:sym typeface="Lato"/>
              </a:rPr>
              <a:t>Draws a line that separates two classes, keeping line as far from the nearest points as possible</a:t>
            </a:r>
            <a:endParaRPr sz="1800" dirty="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b="1" dirty="0">
                <a:solidFill>
                  <a:schemeClr val="dk1"/>
                </a:solidFill>
                <a:latin typeface="Lato"/>
                <a:ea typeface="Lato"/>
                <a:cs typeface="Lato"/>
                <a:sym typeface="Lato"/>
              </a:rPr>
              <a:t>Hyperparameters:</a:t>
            </a:r>
            <a:endParaRPr sz="1800" b="1" dirty="0">
              <a:solidFill>
                <a:schemeClr val="dk1"/>
              </a:solidFill>
              <a:latin typeface="Lato"/>
              <a:ea typeface="Lato"/>
              <a:cs typeface="Lato"/>
              <a:sym typeface="Lato"/>
            </a:endParaRPr>
          </a:p>
          <a:p>
            <a:pPr marL="914400" lvl="0" indent="-317500" algn="l" rtl="0">
              <a:spcBef>
                <a:spcPts val="0"/>
              </a:spcBef>
              <a:spcAft>
                <a:spcPts val="0"/>
              </a:spcAft>
              <a:buClr>
                <a:schemeClr val="dk1"/>
              </a:buClr>
              <a:buSzPts val="1400"/>
              <a:buFont typeface="Lato"/>
              <a:buChar char="●"/>
            </a:pPr>
            <a:r>
              <a:rPr lang="en" dirty="0">
                <a:solidFill>
                  <a:schemeClr val="dk1"/>
                </a:solidFill>
                <a:latin typeface="Lato"/>
                <a:ea typeface="Lato"/>
                <a:cs typeface="Lato"/>
                <a:sym typeface="Lato"/>
              </a:rPr>
              <a:t>C: Regularization parameter</a:t>
            </a:r>
            <a:endParaRPr dirty="0">
              <a:solidFill>
                <a:schemeClr val="dk1"/>
              </a:solidFill>
              <a:latin typeface="Lato"/>
              <a:ea typeface="Lato"/>
              <a:cs typeface="Lato"/>
              <a:sym typeface="Lato"/>
            </a:endParaRPr>
          </a:p>
          <a:p>
            <a:pPr marL="914400" lvl="0" indent="-317500" algn="l" rtl="0">
              <a:spcBef>
                <a:spcPts val="0"/>
              </a:spcBef>
              <a:spcAft>
                <a:spcPts val="0"/>
              </a:spcAft>
              <a:buClr>
                <a:schemeClr val="dk1"/>
              </a:buClr>
              <a:buSzPts val="1400"/>
              <a:buFont typeface="Lato"/>
              <a:buChar char="●"/>
            </a:pPr>
            <a:r>
              <a:rPr lang="en" dirty="0">
                <a:solidFill>
                  <a:schemeClr val="dk1"/>
                </a:solidFill>
                <a:latin typeface="Lato"/>
                <a:ea typeface="Lato"/>
                <a:cs typeface="Lato"/>
                <a:sym typeface="Lato"/>
              </a:rPr>
              <a:t>Kernel: Determines transformation of input variables for hyperplane</a:t>
            </a:r>
            <a:endParaRPr dirty="0">
              <a:solidFill>
                <a:schemeClr val="dk1"/>
              </a:solidFill>
              <a:latin typeface="Lato"/>
              <a:ea typeface="Lato"/>
              <a:cs typeface="Lato"/>
              <a:sym typeface="Lato"/>
            </a:endParaRPr>
          </a:p>
          <a:p>
            <a:pPr marL="914400" lvl="0" indent="-317500" algn="l" rtl="0">
              <a:spcBef>
                <a:spcPts val="0"/>
              </a:spcBef>
              <a:spcAft>
                <a:spcPts val="0"/>
              </a:spcAft>
              <a:buClr>
                <a:schemeClr val="dk1"/>
              </a:buClr>
              <a:buSzPts val="1400"/>
              <a:buFont typeface="Lato"/>
              <a:buChar char="●"/>
            </a:pPr>
            <a:r>
              <a:rPr lang="en" dirty="0">
                <a:solidFill>
                  <a:schemeClr val="dk1"/>
                </a:solidFill>
                <a:latin typeface="Lato"/>
                <a:ea typeface="Lato"/>
                <a:cs typeface="Lato"/>
                <a:sym typeface="Lato"/>
              </a:rPr>
              <a:t>Gamma: Controls influence of a single data point (rbf kernel only)</a:t>
            </a:r>
            <a:endParaRPr dirty="0">
              <a:solidFill>
                <a:schemeClr val="dk1"/>
              </a:solidFill>
              <a:latin typeface="Lato"/>
              <a:ea typeface="Lato"/>
              <a:cs typeface="Lato"/>
              <a:sym typeface="Lato"/>
            </a:endParaRPr>
          </a:p>
          <a:p>
            <a:pPr marL="914400" lvl="0" indent="-317500" algn="l" rtl="0">
              <a:spcBef>
                <a:spcPts val="0"/>
              </a:spcBef>
              <a:spcAft>
                <a:spcPts val="0"/>
              </a:spcAft>
              <a:buClr>
                <a:schemeClr val="dk1"/>
              </a:buClr>
              <a:buSzPts val="1400"/>
              <a:buFont typeface="Lato"/>
              <a:buChar char="●"/>
            </a:pPr>
            <a:r>
              <a:rPr lang="en" dirty="0">
                <a:solidFill>
                  <a:schemeClr val="dk1"/>
                </a:solidFill>
                <a:latin typeface="Lato"/>
                <a:ea typeface="Lato"/>
                <a:cs typeface="Lato"/>
                <a:sym typeface="Lato"/>
              </a:rPr>
              <a:t>Epsilon: Width of tube around predicted line (SVR only)</a:t>
            </a:r>
            <a:endParaRPr dirty="0">
              <a:solidFill>
                <a:schemeClr val="dk1"/>
              </a:solidFill>
              <a:latin typeface="Lato"/>
              <a:ea typeface="Lato"/>
              <a:cs typeface="Lato"/>
              <a:sym typeface="Lato"/>
            </a:endParaRPr>
          </a:p>
          <a:p>
            <a:pPr marL="0" lvl="0" indent="0" algn="l" rtl="0">
              <a:spcBef>
                <a:spcPts val="0"/>
              </a:spcBef>
              <a:spcAft>
                <a:spcPts val="0"/>
              </a:spcAft>
              <a:buNone/>
            </a:pPr>
            <a:endParaRPr sz="1800" b="1" dirty="0">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Office Theme">
  <a:themeElements>
    <a:clrScheme name="Custom 1">
      <a:dk1>
        <a:srgbClr val="C41230"/>
      </a:dk1>
      <a:lt1>
        <a:srgbClr val="FAF9F7"/>
      </a:lt1>
      <a:dk2>
        <a:srgbClr val="C41230"/>
      </a:dk2>
      <a:lt2>
        <a:srgbClr val="FAF9F7"/>
      </a:lt2>
      <a:accent1>
        <a:srgbClr val="ECEDE2"/>
      </a:accent1>
      <a:accent2>
        <a:srgbClr val="941728"/>
      </a:accent2>
      <a:accent3>
        <a:srgbClr val="007B89"/>
      </a:accent3>
      <a:accent4>
        <a:srgbClr val="000000"/>
      </a:accent4>
      <a:accent5>
        <a:srgbClr val="262626"/>
      </a:accent5>
      <a:accent6>
        <a:srgbClr val="FFFFFF"/>
      </a:accent6>
      <a:hlink>
        <a:srgbClr val="007B89"/>
      </a:hlink>
      <a:folHlink>
        <a:srgbClr val="94172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2004</Words>
  <Application>Microsoft Office PowerPoint</Application>
  <PresentationFormat>On-screen Show (16:9)</PresentationFormat>
  <Paragraphs>317</Paragraphs>
  <Slides>57</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Lato</vt:lpstr>
      <vt:lpstr>Roboto Slab</vt:lpstr>
      <vt:lpstr>Arial</vt:lpstr>
      <vt:lpstr>Lato Light</vt:lpstr>
      <vt:lpstr>Office Theme</vt:lpstr>
      <vt:lpstr>Predicting Song Views &amp; Virality on YouTube</vt:lpstr>
      <vt:lpstr>Agenda</vt:lpstr>
      <vt:lpstr>Abstract</vt:lpstr>
      <vt:lpstr>Introduction</vt:lpstr>
      <vt:lpstr>Why do songs go viral?</vt:lpstr>
      <vt:lpstr>Value in Analytics</vt:lpstr>
      <vt:lpstr>Outcome</vt:lpstr>
      <vt:lpstr>Data Collection, Preparation &amp; Analysis</vt:lpstr>
      <vt:lpstr>Data Collection</vt:lpstr>
      <vt:lpstr>What Data do we need?</vt:lpstr>
      <vt:lpstr>Data Sources</vt:lpstr>
      <vt:lpstr>Data Sources</vt:lpstr>
      <vt:lpstr>Data Preparation</vt:lpstr>
      <vt:lpstr>Data Preparation</vt:lpstr>
      <vt:lpstr>Data Preparation</vt:lpstr>
      <vt:lpstr>Feature Engineering</vt:lpstr>
      <vt:lpstr>Feature Engineering</vt:lpstr>
      <vt:lpstr>PowerPoint Presentation</vt:lpstr>
      <vt:lpstr>Topic Names &amp; Keywords</vt:lpstr>
      <vt:lpstr>Data Analysis</vt:lpstr>
      <vt:lpstr>Final Dataset</vt:lpstr>
      <vt:lpstr>Data Summary - Audio/Lexical Features</vt:lpstr>
      <vt:lpstr>Data Summary - Text Mining Features</vt:lpstr>
      <vt:lpstr>Data Summary - Binary Features</vt:lpstr>
      <vt:lpstr>Data Summary - Discrete Features</vt:lpstr>
      <vt:lpstr>Distribution of Song Word Count </vt:lpstr>
      <vt:lpstr>Top Song-producing Artists</vt:lpstr>
      <vt:lpstr>Top Artists by Average YouTube Views</vt:lpstr>
      <vt:lpstr>Correlation Heatmap of Audio Features</vt:lpstr>
      <vt:lpstr>Lyrics Word Cloud</vt:lpstr>
      <vt:lpstr>Model Building &amp; Evaluation</vt:lpstr>
      <vt:lpstr>Standard Practices</vt:lpstr>
      <vt:lpstr>Response</vt:lpstr>
      <vt:lpstr>Decision Tree Models</vt:lpstr>
      <vt:lpstr>Random Forest Models</vt:lpstr>
      <vt:lpstr>PowerPoint Presentation</vt:lpstr>
      <vt:lpstr>PowerPoint Presentation</vt:lpstr>
      <vt:lpstr>XGBoost Models</vt:lpstr>
      <vt:lpstr>PowerPoint Presentation</vt:lpstr>
      <vt:lpstr>PowerPoint Presentation</vt:lpstr>
      <vt:lpstr>Support Vector Models</vt:lpstr>
      <vt:lpstr>Best Model(s) </vt:lpstr>
      <vt:lpstr>Conclusions</vt:lpstr>
      <vt:lpstr>Conclusions</vt:lpstr>
      <vt:lpstr>Recommendations</vt:lpstr>
      <vt:lpstr>Limitations</vt:lpstr>
      <vt:lpstr>Thank you</vt:lpstr>
      <vt:lpstr>References</vt:lpstr>
      <vt:lpstr>References</vt:lpstr>
      <vt:lpstr>Appendices</vt:lpstr>
      <vt:lpstr>Appendix A</vt:lpstr>
      <vt:lpstr>Appendix B</vt:lpstr>
      <vt:lpstr>Appendix C</vt:lpstr>
      <vt:lpstr>Appendix D</vt:lpstr>
      <vt:lpstr>Appendix E</vt:lpstr>
      <vt:lpstr>Appendix F</vt:lpstr>
      <vt:lpstr>Appendix 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Harrison Cradduck</cp:lastModifiedBy>
  <cp:revision>1</cp:revision>
  <dcterms:modified xsi:type="dcterms:W3CDTF">2025-12-11T15:05:50Z</dcterms:modified>
</cp:coreProperties>
</file>