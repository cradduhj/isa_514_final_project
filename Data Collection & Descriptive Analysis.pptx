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embeddedFontLst>
    <p:embeddedFont>
      <p:font typeface="Lato Light" panose="020F0502020204030204" pitchFamily="34" charset="0"/>
      <p:regular r:id="rId34"/>
      <p:bold r:id="rId35"/>
      <p:italic r:id="rId36"/>
      <p:boldItalic r:id="rId37"/>
    </p:embeddedFont>
    <p:embeddedFont>
      <p:font typeface="Roboto Slab" panose="020F0502020204030204" pitchFamily="2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66ed6c38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a66ed6c38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66ed6c38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66ed6c38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66ed6c3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66ed6c3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66ed6c38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66ed6c38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66ed6c38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66ed6c38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9066c3b1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9066c3b16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66ed6c38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66ed6c38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66ed6c38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66ed6c38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6ed6c38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66ed6c38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66ed6c38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66ed6c386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66ed6c38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66ed6c38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9066c3b16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9066c3b16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66ed6c38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66ed6c38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951f793c7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951f793c7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951f793c7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951f793c7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951f793c7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951f793c7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951f793c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951f793c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8fe0f6a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8fe0f6a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8fe0f6a1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8fe0f6a1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fe0f6a1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8fe0f6a1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948ff74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948ff74c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948ff74c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948ff74c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9066c3b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9066c3b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9066c3b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9066c3b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948ff74c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948ff74c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951f793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951f793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951f793c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951f793c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951f793c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951f793c7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951f793c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951f793c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951f793c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951f793c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_Red">
  <p:cSld name="9_Title Slide_Red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143000" y="1963600"/>
            <a:ext cx="6858000" cy="11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Roboto Slab"/>
              <a:buNone/>
              <a:defRPr sz="3600" b="0">
                <a:solidFill>
                  <a:schemeClr val="accent6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143000" y="3176293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>
                <a:solidFill>
                  <a:schemeClr val="accent6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117231" y="123092"/>
            <a:ext cx="8903700" cy="4917900"/>
          </a:xfrm>
          <a:prstGeom prst="rect">
            <a:avLst/>
          </a:prstGeom>
          <a:noFill/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88069" y="1027496"/>
            <a:ext cx="762002" cy="83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17231" y="123092"/>
            <a:ext cx="8903700" cy="4917900"/>
          </a:xfrm>
          <a:prstGeom prst="rect">
            <a:avLst/>
          </a:prstGeom>
          <a:solidFill>
            <a:schemeClr val="accent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_Tan">
  <p:cSld name="5_Title and Content_Ta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" name="Google Shape;31;p5"/>
          <p:cNvCxnSpPr/>
          <p:nvPr/>
        </p:nvCxnSpPr>
        <p:spPr>
          <a:xfrm>
            <a:off x="720969" y="1369219"/>
            <a:ext cx="0" cy="326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3842" y="435356"/>
            <a:ext cx="614769" cy="671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" name="Google Shape;36;p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6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41;p7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" name="Google Shape;42;p7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" name="Google Shape;43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CE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 Slab"/>
              <a:buNone/>
              <a:defRPr sz="33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D5888C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llboard.com/charts/hot-10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 &amp; Descriptive Analysis</a:t>
            </a:r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ubTitle" idx="1"/>
          </p:nvPr>
        </p:nvSpPr>
        <p:spPr>
          <a:xfrm>
            <a:off x="2390275" y="3722250"/>
            <a:ext cx="6331500" cy="7578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Harrison Cradduck, Marah Donahoe, Joey Endres, William Knapp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628650" y="20746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/>
              <a:t>Project Overview</a:t>
            </a:r>
            <a:endParaRPr sz="4500" b="1"/>
          </a:p>
        </p:txBody>
      </p:sp>
      <p:cxnSp>
        <p:nvCxnSpPr>
          <p:cNvPr id="58" name="Google Shape;58;p9"/>
          <p:cNvCxnSpPr/>
          <p:nvPr/>
        </p:nvCxnSpPr>
        <p:spPr>
          <a:xfrm>
            <a:off x="628650" y="3435669"/>
            <a:ext cx="7886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>
            <a:off x="628650" y="1707819"/>
            <a:ext cx="7886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800"/>
              <a:t>Producers/record labels make money when their signed artists and bands create popular songs, so our goal to help them get a better understanding of what makes a song “popular” or “viral” by building models to predict the success/popularity of a song on YouTube (measured as number of views) through the use of predictors like genre, artist history &amp; type, song audio features, and sentiment analysis of the lyrics and song title.</a:t>
            </a:r>
            <a:endParaRPr sz="1800"/>
          </a:p>
          <a:p>
            <a:pPr marL="0" lvl="0" indent="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If we later find a way to pull Spotify popularity metrics (streams), we will build a second set of predictive models to predict streams.</a:t>
            </a:r>
            <a:endParaRPr sz="1800"/>
          </a:p>
          <a:p>
            <a:pPr marL="4572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would then be able to contrast the two sets of models and potentially discern what predictors have the most influence on a song’s popularity on YouTube versus Spotify.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628650" y="20746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/>
              <a:t>Data Collection</a:t>
            </a:r>
            <a:endParaRPr sz="4500" b="1"/>
          </a:p>
        </p:txBody>
      </p:sp>
      <p:cxnSp>
        <p:nvCxnSpPr>
          <p:cNvPr id="71" name="Google Shape;71;p11"/>
          <p:cNvCxnSpPr/>
          <p:nvPr/>
        </p:nvCxnSpPr>
        <p:spPr>
          <a:xfrm>
            <a:off x="628650" y="3435669"/>
            <a:ext cx="7886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" name="Google Shape;72;p11"/>
          <p:cNvCxnSpPr/>
          <p:nvPr/>
        </p:nvCxnSpPr>
        <p:spPr>
          <a:xfrm>
            <a:off x="628650" y="1707819"/>
            <a:ext cx="7886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Song Titles &amp; Artists</a:t>
            </a:r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1204000" y="1369225"/>
            <a:ext cx="73116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Purpose: create a unique, large, comprehensive list of songs for data analysis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Pulled song titles, artists, and chart year from the weekly top 100 billboard charts from 1990 to 2025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Web-scraped from </a:t>
            </a:r>
            <a:r>
              <a:rPr lang="en" i="1" u="sng" dirty="0">
                <a:solidFill>
                  <a:schemeClr val="hlink"/>
                </a:solidFill>
                <a:hlinkClick r:id="rId3"/>
              </a:rPr>
              <a:t>www.billboard.com/charts/hot-100</a:t>
            </a:r>
            <a:r>
              <a:rPr lang="en" i="1" dirty="0"/>
              <a:t> </a:t>
            </a:r>
            <a:r>
              <a:rPr lang="en" dirty="0"/>
              <a:t>using Beautiful Soup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Cleaned artist names for searching / merging / joining data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Kept unique combinations of titles and artists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18,959 unique songs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Song Lyrics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1203875" y="1369225"/>
            <a:ext cx="73116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Matched song lyrics (text) to songs in the dataset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Lyrics Genius Python library to pull song lyrics from Genius API by title and artist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18,959 requests ~ 5 hours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1,562 songs with missing lyrics, 3,524 duplicate songs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13,873 songs with complete lyrics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Intend to conduct sentiment analysis on lyrics for predictive power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explain noise over patterns due to lots of diverse words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Artist Features</a:t>
            </a:r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1203875" y="1369225"/>
            <a:ext cx="73116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Pull artist-related features for unique artists in the dataset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Used MusicBrainz API and Wikidata SPARQL endpoint to pull data about artists within the songs dataset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Name, type (person, group), genre(s), country, start year of career, etc.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4,322 unique artists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Intend to account for artist history and industry nature in predicting song popularity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Fine line between predicting song popularity vs. artist popularity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YouTube Metrics</a:t>
            </a:r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1203875" y="1369225"/>
            <a:ext cx="7311600" cy="350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/>
              <a:t>Pulled YouTube video metrics (numeric) for corresponding songs in the dataset</a:t>
            </a:r>
            <a:endParaRPr sz="1600"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/>
              <a:t>Attempted to use YouTube Data API v3; met with 100 requests ~ day limit</a:t>
            </a:r>
            <a:endParaRPr sz="1600"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/>
              <a:t>Web-scraped / extracted metadata from YouTube videos using yt-dlp Python package, essentially creating a data collection API</a:t>
            </a:r>
            <a:endParaRPr sz="16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/>
              <a:t>17,397 requests ~ 11 hours</a:t>
            </a:r>
            <a:endParaRPr sz="16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/>
              <a:t>15,002 songs with view, like, and comment counts</a:t>
            </a:r>
            <a:endParaRPr sz="1600"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 dirty="0"/>
              <a:t>Unique avenue / platform for popularity metrics</a:t>
            </a:r>
            <a:endParaRPr sz="1600" dirty="0"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/>
              <a:t>Some songs don’t have music videos, YouTube metrics, or public information / metadata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Spotify API Features</a:t>
            </a:r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1203875" y="1369225"/>
            <a:ext cx="7311600" cy="3579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0832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ct val="66666"/>
              <a:buChar char="●"/>
            </a:pPr>
            <a:r>
              <a:rPr lang="en" sz="1600" dirty="0"/>
              <a:t>Pulled Spotify audio features (numeric) for corresponding songs in the dataset</a:t>
            </a:r>
            <a:endParaRPr sz="1600" dirty="0"/>
          </a:p>
          <a:p>
            <a:pPr marL="914400" lvl="1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777"/>
              <a:buChar char="○"/>
            </a:pPr>
            <a:r>
              <a:rPr lang="en" sz="1600" dirty="0"/>
              <a:t>Attempted to use Spotify Web API; audio features API endpoint deprecated 11/2024</a:t>
            </a:r>
            <a:endParaRPr sz="1600" dirty="0"/>
          </a:p>
          <a:p>
            <a:pPr marL="914400" lvl="1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777"/>
              <a:buChar char="○"/>
            </a:pPr>
            <a:r>
              <a:rPr lang="en" sz="1600" dirty="0"/>
              <a:t>Downloaded 6 Kaggle datasets with Spotify audio features (created before endpoint deprecation) and merged with matching songs on track ID, then title and artist</a:t>
            </a:r>
            <a:endParaRPr sz="1600" dirty="0"/>
          </a:p>
          <a:p>
            <a:pPr marL="457200" lvl="0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6666"/>
              <a:buChar char="●"/>
            </a:pPr>
            <a:r>
              <a:rPr lang="en" sz="1600" dirty="0"/>
              <a:t>Energy, key, acousticness, loudness, liveness, etc.</a:t>
            </a:r>
            <a:endParaRPr sz="1600" dirty="0"/>
          </a:p>
          <a:p>
            <a:pPr marL="457200" lvl="0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6666"/>
              <a:buChar char="●"/>
            </a:pPr>
            <a:r>
              <a:rPr lang="en" sz="1600" dirty="0"/>
              <a:t>6,578 songs with Spotify audio features</a:t>
            </a:r>
            <a:endParaRPr sz="1600" dirty="0"/>
          </a:p>
          <a:p>
            <a:pPr marL="457200" lvl="0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6666"/>
              <a:buChar char="●"/>
            </a:pPr>
            <a:r>
              <a:rPr lang="en" sz="1600" dirty="0"/>
              <a:t>Incorporates both song facts and listener preference into analysis</a:t>
            </a:r>
            <a:endParaRPr sz="1600" dirty="0"/>
          </a:p>
          <a:p>
            <a:pPr marL="914400" lvl="1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77777"/>
              <a:buChar char="○"/>
            </a:pPr>
            <a:r>
              <a:rPr lang="en" sz="1600" dirty="0"/>
              <a:t>Popular predictors in song analyses, but what/who determines values?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628650" y="20746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/>
              <a:t>Descriptive Analysis</a:t>
            </a:r>
            <a:endParaRPr sz="4500" b="1"/>
          </a:p>
        </p:txBody>
      </p:sp>
      <p:cxnSp>
        <p:nvCxnSpPr>
          <p:cNvPr id="108" name="Google Shape;108;p17"/>
          <p:cNvCxnSpPr/>
          <p:nvPr/>
        </p:nvCxnSpPr>
        <p:spPr>
          <a:xfrm>
            <a:off x="628650" y="3435669"/>
            <a:ext cx="7886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17"/>
          <p:cNvCxnSpPr/>
          <p:nvPr/>
        </p:nvCxnSpPr>
        <p:spPr>
          <a:xfrm>
            <a:off x="628650" y="1707819"/>
            <a:ext cx="7886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6,578 songs (unique combinations of titles and artists)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Response variable: “view_count”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Consider weighted combination of “view_count” and “like_count”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42 predictor variables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Audio features, artist features, lyrics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29 dummy indicators for “county”, “type”, and “genre” predictors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13 numeric predictors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 missingness is resolved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1359875" y="1369225"/>
            <a:ext cx="7155600" cy="3270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38296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Convert numeric song “key”, artist “type”, and artist “country” to categorical and dummy-code</a:t>
            </a:r>
            <a:endParaRPr sz="1727"/>
          </a:p>
          <a:p>
            <a:pPr marL="457200" lvl="0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Perform median imputation on “like” &amp; “view” counts (12 &amp; 26 missing)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 sz="1727"/>
              <a:t>Both variables are right-skewed</a:t>
            </a:r>
            <a:endParaRPr sz="1727"/>
          </a:p>
          <a:p>
            <a:pPr marL="457200" lvl="0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Perform zero imputation on “comment” count (127 missing)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 sz="1727"/>
              <a:t>Multiple reasons comments may be missing</a:t>
            </a:r>
            <a:endParaRPr sz="1727"/>
          </a:p>
          <a:p>
            <a:pPr marL="457200" lvl="0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Perform mode imputation on artist “type” and collapse levels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 sz="1727"/>
              <a:t>If missing, most likely a person; if not person, most likely a group</a:t>
            </a:r>
            <a:endParaRPr sz="1727"/>
          </a:p>
          <a:p>
            <a:pPr marL="457200" lvl="0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Collapse artist “country” into USA, Canada, Great Britain, and Other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 sz="1727"/>
              <a:t>40+ countries with sparse data</a:t>
            </a:r>
            <a:endParaRPr sz="1727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1359875" y="1369225"/>
            <a:ext cx="7155600" cy="3281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38296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Convert song “chart year” to integer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 sz="1727"/>
              <a:t>Remove trailing decimal placeholder</a:t>
            </a:r>
            <a:endParaRPr sz="1727"/>
          </a:p>
          <a:p>
            <a:pPr marL="457200" lvl="0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Correct inaccurate “chart year” (ex. 2029)</a:t>
            </a:r>
            <a:endParaRPr sz="1727"/>
          </a:p>
          <a:p>
            <a:pPr marL="457200" lvl="0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Convert artist career “begin_date” to year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 sz="1727"/>
              <a:t>More interpretable, matches chart year</a:t>
            </a:r>
            <a:endParaRPr sz="1727"/>
          </a:p>
          <a:p>
            <a:pPr marL="457200" lvl="0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Remove new line indicators from “lyrics”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 sz="1727"/>
              <a:t>Prepare for sentiment analysis</a:t>
            </a:r>
            <a:endParaRPr sz="1727"/>
          </a:p>
          <a:p>
            <a:pPr marL="457200" lvl="0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Split list of “genres” into elements and group into major genres (pop, rock, r&amp;b, etc.)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 sz="1727"/>
              <a:t>1700+ unique lists of genres; combine elements into common groups for predictive power and interpretability</a:t>
            </a:r>
            <a:endParaRPr sz="1727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Summary - Lyrics</a:t>
            </a: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body" idx="1"/>
          </p:nvPr>
        </p:nvSpPr>
        <p:spPr>
          <a:xfrm>
            <a:off x="1359878" y="1369219"/>
            <a:ext cx="71556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38296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Identified basic dataframe summary statistics for pre-cleaned lyrics dataset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/>
              <a:t>4 variables: title, artist, chart_year, lyrics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/>
              <a:t>13,873 songs</a:t>
            </a:r>
            <a:endParaRPr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12,186 unique titles</a:t>
            </a:r>
            <a:endParaRPr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3,634 artists</a:t>
            </a:r>
            <a:endParaRPr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36 chart years</a:t>
            </a:r>
            <a:endParaRPr/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800"/>
              <a:t>Other relevant statistics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Avg. word count: 429</a:t>
            </a:r>
            <a:endParaRPr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Most frequent artist: Taylor Swift</a:t>
            </a:r>
            <a:endParaRPr/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/>
              <a:t>Most common theme: Love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Summary - Numeric</a:t>
            </a:r>
            <a:endParaRPr/>
          </a:p>
        </p:txBody>
      </p:sp>
      <p:pic>
        <p:nvPicPr>
          <p:cNvPr id="139" name="Google Shape;139;p22" title="summary_table (1).png"/>
          <p:cNvPicPr preferRelativeResize="0"/>
          <p:nvPr/>
        </p:nvPicPr>
        <p:blipFill rotWithShape="1">
          <a:blip r:embed="rId3">
            <a:alphaModFix/>
          </a:blip>
          <a:srcRect t="25545" r="4698" b="25383"/>
          <a:stretch/>
        </p:blipFill>
        <p:spPr>
          <a:xfrm>
            <a:off x="267850" y="1136650"/>
            <a:ext cx="8608302" cy="32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Summary - Categorical</a:t>
            </a:r>
            <a:endParaRPr/>
          </a:p>
        </p:txBody>
      </p:sp>
      <p:pic>
        <p:nvPicPr>
          <p:cNvPr id="145" name="Google Shape;145;p23" title="categorical_summary_table.png"/>
          <p:cNvPicPr preferRelativeResize="0"/>
          <p:nvPr/>
        </p:nvPicPr>
        <p:blipFill rotWithShape="1">
          <a:blip r:embed="rId3">
            <a:alphaModFix/>
          </a:blip>
          <a:srcRect t="36584" r="7910" b="35571"/>
          <a:stretch/>
        </p:blipFill>
        <p:spPr>
          <a:xfrm>
            <a:off x="272875" y="1371034"/>
            <a:ext cx="8640573" cy="113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>
            <a:spLocks noGrp="1"/>
          </p:cNvSpPr>
          <p:nvPr>
            <p:ph type="body" idx="1"/>
          </p:nvPr>
        </p:nvSpPr>
        <p:spPr>
          <a:xfrm>
            <a:off x="628775" y="3477473"/>
            <a:ext cx="7886700" cy="1040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38296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728"/>
              <a:buChar char="●"/>
            </a:pPr>
            <a:r>
              <a:rPr lang="en" sz="1727"/>
              <a:t>Note: title and lyrics are not shown in this table, as there is very little repetition between observations</a:t>
            </a:r>
            <a:endParaRPr sz="1727"/>
          </a:p>
          <a:p>
            <a:pPr marL="914400" lvl="1" indent="-33829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8"/>
              <a:buChar char="○"/>
            </a:pPr>
            <a:r>
              <a:rPr lang="en" sz="1727"/>
              <a:t>For both, N = 6,578 and missing = 0</a:t>
            </a:r>
            <a:endParaRPr sz="1727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Summary - Binary</a:t>
            </a:r>
            <a:endParaRPr/>
          </a:p>
        </p:txBody>
      </p:sp>
      <p:pic>
        <p:nvPicPr>
          <p:cNvPr id="152" name="Google Shape;152;p24" title="binary_summary_table (2).png"/>
          <p:cNvPicPr preferRelativeResize="0"/>
          <p:nvPr/>
        </p:nvPicPr>
        <p:blipFill rotWithShape="1">
          <a:blip r:embed="rId3">
            <a:alphaModFix/>
          </a:blip>
          <a:srcRect l="10411" t="21247" r="21892" b="48742"/>
          <a:stretch/>
        </p:blipFill>
        <p:spPr>
          <a:xfrm>
            <a:off x="366850" y="1631700"/>
            <a:ext cx="4112075" cy="26515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24"/>
          <p:cNvGrpSpPr/>
          <p:nvPr/>
        </p:nvGrpSpPr>
        <p:grpSpPr>
          <a:xfrm>
            <a:off x="4665075" y="1635550"/>
            <a:ext cx="4112075" cy="2643848"/>
            <a:chOff x="4572000" y="1148925"/>
            <a:chExt cx="4112075" cy="2643848"/>
          </a:xfrm>
        </p:grpSpPr>
        <p:pic>
          <p:nvPicPr>
            <p:cNvPr id="154" name="Google Shape;154;p24" title="binary_summary_table (2).png"/>
            <p:cNvPicPr preferRelativeResize="0"/>
            <p:nvPr/>
          </p:nvPicPr>
          <p:blipFill rotWithShape="1">
            <a:blip r:embed="rId3">
              <a:alphaModFix/>
            </a:blip>
            <a:srcRect l="10411" t="21247" r="21892" b="76387"/>
            <a:stretch/>
          </p:blipFill>
          <p:spPr>
            <a:xfrm>
              <a:off x="4572000" y="1148925"/>
              <a:ext cx="4112075" cy="2089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4" title="binary_summary_table (2).png"/>
            <p:cNvPicPr preferRelativeResize="0"/>
            <p:nvPr/>
          </p:nvPicPr>
          <p:blipFill rotWithShape="1">
            <a:blip r:embed="rId3">
              <a:alphaModFix/>
            </a:blip>
            <a:srcRect l="10411" t="50891" r="21892" b="21218"/>
            <a:stretch/>
          </p:blipFill>
          <p:spPr>
            <a:xfrm>
              <a:off x="4572000" y="1328625"/>
              <a:ext cx="4112075" cy="2464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628650" y="20746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/>
              <a:t>Data Visualization</a:t>
            </a:r>
            <a:endParaRPr sz="4500" b="1"/>
          </a:p>
        </p:txBody>
      </p:sp>
      <p:cxnSp>
        <p:nvCxnSpPr>
          <p:cNvPr id="161" name="Google Shape;161;p25"/>
          <p:cNvCxnSpPr/>
          <p:nvPr/>
        </p:nvCxnSpPr>
        <p:spPr>
          <a:xfrm>
            <a:off x="628650" y="3435669"/>
            <a:ext cx="7886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5"/>
          <p:cNvCxnSpPr/>
          <p:nvPr/>
        </p:nvCxnSpPr>
        <p:spPr>
          <a:xfrm>
            <a:off x="628650" y="1707819"/>
            <a:ext cx="7886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of Songs per Year</a:t>
            </a:r>
            <a:endParaRPr/>
          </a:p>
        </p:txBody>
      </p:sp>
      <p:pic>
        <p:nvPicPr>
          <p:cNvPr id="168" name="Google Shape;168;p26"/>
          <p:cNvPicPr preferRelativeResize="0"/>
          <p:nvPr/>
        </p:nvPicPr>
        <p:blipFill rotWithShape="1">
          <a:blip r:embed="rId3">
            <a:alphaModFix/>
          </a:blip>
          <a:srcRect t="5970"/>
          <a:stretch/>
        </p:blipFill>
        <p:spPr>
          <a:xfrm>
            <a:off x="708875" y="1178925"/>
            <a:ext cx="7726250" cy="36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Song Word Count </a:t>
            </a:r>
            <a:endParaRPr/>
          </a:p>
        </p:txBody>
      </p:sp>
      <p:pic>
        <p:nvPicPr>
          <p:cNvPr id="174" name="Google Shape;174;p27"/>
          <p:cNvPicPr preferRelativeResize="0"/>
          <p:nvPr/>
        </p:nvPicPr>
        <p:blipFill rotWithShape="1">
          <a:blip r:embed="rId3">
            <a:alphaModFix/>
          </a:blip>
          <a:srcRect t="6006"/>
          <a:stretch/>
        </p:blipFill>
        <p:spPr>
          <a:xfrm>
            <a:off x="1420650" y="1268050"/>
            <a:ext cx="6302700" cy="356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Lyrics Length by Year</a:t>
            </a:r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 rotWithShape="1">
          <a:blip r:embed="rId3">
            <a:alphaModFix/>
          </a:blip>
          <a:srcRect t="6023"/>
          <a:stretch/>
        </p:blipFill>
        <p:spPr>
          <a:xfrm>
            <a:off x="875863" y="1367725"/>
            <a:ext cx="7392276" cy="324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Song Duration by Year</a:t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 rotWithShape="1">
          <a:blip r:embed="rId3">
            <a:alphaModFix/>
          </a:blip>
          <a:srcRect t="5793"/>
          <a:stretch/>
        </p:blipFill>
        <p:spPr>
          <a:xfrm>
            <a:off x="1354900" y="1304825"/>
            <a:ext cx="6434199" cy="33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Song Duration by Genre</a:t>
            </a: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 rotWithShape="1">
          <a:blip r:embed="rId3">
            <a:alphaModFix/>
          </a:blip>
          <a:srcRect t="6367"/>
          <a:stretch/>
        </p:blipFill>
        <p:spPr>
          <a:xfrm>
            <a:off x="1047950" y="1184650"/>
            <a:ext cx="704810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Song-producing Artists</a:t>
            </a:r>
            <a:endParaRPr/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550" y="1030326"/>
            <a:ext cx="6757802" cy="388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Average Views per Music Video (by Artist)</a:t>
            </a:r>
            <a:endParaRPr sz="3000"/>
          </a:p>
        </p:txBody>
      </p:sp>
      <p:pic>
        <p:nvPicPr>
          <p:cNvPr id="204" name="Google Shape;2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575" y="1058250"/>
            <a:ext cx="6813000" cy="3891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Heatmap of Audio Features</a:t>
            </a:r>
            <a:endParaRPr/>
          </a:p>
        </p:txBody>
      </p:sp>
      <p:pic>
        <p:nvPicPr>
          <p:cNvPr id="210" name="Google Shape;210;p33"/>
          <p:cNvPicPr preferRelativeResize="0"/>
          <p:nvPr/>
        </p:nvPicPr>
        <p:blipFill rotWithShape="1">
          <a:blip r:embed="rId3">
            <a:alphaModFix/>
          </a:blip>
          <a:srcRect t="3194"/>
          <a:stretch/>
        </p:blipFill>
        <p:spPr>
          <a:xfrm>
            <a:off x="2540563" y="1220925"/>
            <a:ext cx="4062874" cy="34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YouTube View Count by Year</a:t>
            </a:r>
            <a:endParaRPr/>
          </a:p>
        </p:txBody>
      </p:sp>
      <p:pic>
        <p:nvPicPr>
          <p:cNvPr id="216" name="Google Shape;216;p34"/>
          <p:cNvPicPr preferRelativeResize="0"/>
          <p:nvPr/>
        </p:nvPicPr>
        <p:blipFill rotWithShape="1">
          <a:blip r:embed="rId3">
            <a:alphaModFix/>
          </a:blip>
          <a:srcRect t="6023"/>
          <a:stretch/>
        </p:blipFill>
        <p:spPr>
          <a:xfrm>
            <a:off x="1710300" y="1299075"/>
            <a:ext cx="5723400" cy="33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YouTube Like Count by Year</a:t>
            </a:r>
            <a:endParaRPr/>
          </a:p>
        </p:txBody>
      </p:sp>
      <p:pic>
        <p:nvPicPr>
          <p:cNvPr id="222" name="Google Shape;222;p35"/>
          <p:cNvPicPr preferRelativeResize="0"/>
          <p:nvPr/>
        </p:nvPicPr>
        <p:blipFill rotWithShape="1">
          <a:blip r:embed="rId3">
            <a:alphaModFix/>
          </a:blip>
          <a:srcRect t="6314"/>
          <a:stretch/>
        </p:blipFill>
        <p:spPr>
          <a:xfrm>
            <a:off x="1786638" y="1442100"/>
            <a:ext cx="5570726" cy="30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Average YouTube Comment Count by Year</a:t>
            </a:r>
            <a:endParaRPr sz="3000"/>
          </a:p>
        </p:txBody>
      </p:sp>
      <p:pic>
        <p:nvPicPr>
          <p:cNvPr id="228" name="Google Shape;228;p36"/>
          <p:cNvPicPr preferRelativeResize="0"/>
          <p:nvPr/>
        </p:nvPicPr>
        <p:blipFill rotWithShape="1">
          <a:blip r:embed="rId3">
            <a:alphaModFix/>
          </a:blip>
          <a:srcRect t="6103"/>
          <a:stretch/>
        </p:blipFill>
        <p:spPr>
          <a:xfrm>
            <a:off x="1873151" y="1310525"/>
            <a:ext cx="5397700" cy="32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Count vs. Like Count (Millions)</a:t>
            </a:r>
            <a:endParaRPr/>
          </a:p>
        </p:txBody>
      </p:sp>
      <p:pic>
        <p:nvPicPr>
          <p:cNvPr id="234" name="Google Shape;234;p37"/>
          <p:cNvPicPr preferRelativeResize="0"/>
          <p:nvPr/>
        </p:nvPicPr>
        <p:blipFill rotWithShape="1">
          <a:blip r:embed="rId3">
            <a:alphaModFix/>
          </a:blip>
          <a:srcRect t="5267"/>
          <a:stretch/>
        </p:blipFill>
        <p:spPr>
          <a:xfrm>
            <a:off x="2257702" y="1268050"/>
            <a:ext cx="4628597" cy="349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>
            <a:spLocks noGrp="1"/>
          </p:cNvSpPr>
          <p:nvPr>
            <p:ph type="title"/>
          </p:nvPr>
        </p:nvSpPr>
        <p:spPr>
          <a:xfrm>
            <a:off x="1359878" y="273844"/>
            <a:ext cx="7155600" cy="9942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240" name="Google Shape;240;p38"/>
          <p:cNvSpPr txBox="1">
            <a:spLocks noGrp="1"/>
          </p:cNvSpPr>
          <p:nvPr>
            <p:ph type="body" idx="1"/>
          </p:nvPr>
        </p:nvSpPr>
        <p:spPr>
          <a:xfrm>
            <a:off x="1204000" y="1369225"/>
            <a:ext cx="7311600" cy="3263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Feature engineering ideas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 terms, PCA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Lyrics and song title sentiment analysis </a:t>
            </a:r>
            <a:endParaRPr/>
          </a:p>
          <a:p>
            <a: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Pos, neg, neu, compound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Topic modeling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Feature selection ideas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Stepwise selection, regularization, variable importance (RF)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Model building ideas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linear regression 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Support vector regression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C41230"/>
      </a:dk1>
      <a:lt1>
        <a:srgbClr val="FAF9F7"/>
      </a:lt1>
      <a:dk2>
        <a:srgbClr val="C41230"/>
      </a:dk2>
      <a:lt2>
        <a:srgbClr val="FAF9F7"/>
      </a:lt2>
      <a:accent1>
        <a:srgbClr val="ECEDE2"/>
      </a:accent1>
      <a:accent2>
        <a:srgbClr val="941728"/>
      </a:accent2>
      <a:accent3>
        <a:srgbClr val="007B89"/>
      </a:accent3>
      <a:accent4>
        <a:srgbClr val="000000"/>
      </a:accent4>
      <a:accent5>
        <a:srgbClr val="262626"/>
      </a:accent5>
      <a:accent6>
        <a:srgbClr val="FFFFFF"/>
      </a:accent6>
      <a:hlink>
        <a:srgbClr val="007B89"/>
      </a:hlink>
      <a:folHlink>
        <a:srgbClr val="94172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1047</Words>
  <Application>Microsoft Office PowerPoint</Application>
  <PresentationFormat>On-screen Show (16:9)</PresentationFormat>
  <Paragraphs>117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Roboto Slab</vt:lpstr>
      <vt:lpstr>Lato Light</vt:lpstr>
      <vt:lpstr>Arial</vt:lpstr>
      <vt:lpstr>Office Theme</vt:lpstr>
      <vt:lpstr>Data Collection &amp; Descriptive Analysis</vt:lpstr>
      <vt:lpstr>Project Overview</vt:lpstr>
      <vt:lpstr>Problem Statement</vt:lpstr>
      <vt:lpstr>Data Collection</vt:lpstr>
      <vt:lpstr>Song Titles &amp; Artists</vt:lpstr>
      <vt:lpstr>Song Lyrics</vt:lpstr>
      <vt:lpstr>Artist Features</vt:lpstr>
      <vt:lpstr>YouTube Metrics</vt:lpstr>
      <vt:lpstr>Spotify API Features</vt:lpstr>
      <vt:lpstr>Descriptive Analysis</vt:lpstr>
      <vt:lpstr>Dataset</vt:lpstr>
      <vt:lpstr>Data Preparation</vt:lpstr>
      <vt:lpstr>Data Preparation</vt:lpstr>
      <vt:lpstr>Data Summary - Lyrics</vt:lpstr>
      <vt:lpstr>Data Summary - Numeric</vt:lpstr>
      <vt:lpstr>Data Summary - Categorical</vt:lpstr>
      <vt:lpstr>Data Summary - Binary</vt:lpstr>
      <vt:lpstr>Data Visualization</vt:lpstr>
      <vt:lpstr>Number of Songs per Year</vt:lpstr>
      <vt:lpstr>Distribution of Song Word Count </vt:lpstr>
      <vt:lpstr>Average Lyrics Length by Year</vt:lpstr>
      <vt:lpstr>Average Song Duration by Year</vt:lpstr>
      <vt:lpstr>Average Song Duration by Genre</vt:lpstr>
      <vt:lpstr>Top Song-producing Artists</vt:lpstr>
      <vt:lpstr>Average Views per Music Video (by Artist)</vt:lpstr>
      <vt:lpstr>Correlation Heatmap of Audio Features</vt:lpstr>
      <vt:lpstr>Average YouTube View Count by Year</vt:lpstr>
      <vt:lpstr>Average YouTube Like Count by Year</vt:lpstr>
      <vt:lpstr>Average YouTube Comment Count by Year</vt:lpstr>
      <vt:lpstr>View Count vs. Like Count (Millions)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Harrison Cradduck</cp:lastModifiedBy>
  <cp:revision>1</cp:revision>
  <dcterms:modified xsi:type="dcterms:W3CDTF">2025-11-24T22:41:10Z</dcterms:modified>
</cp:coreProperties>
</file>