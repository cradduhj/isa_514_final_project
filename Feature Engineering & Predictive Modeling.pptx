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 Slab"/>
      <p:regular r:id="rId25"/>
      <p:bold r:id="rId26"/>
    </p:embeddedFont>
    <p:embeddedFont>
      <p:font typeface="Lato"/>
      <p:regular r:id="rId27"/>
      <p:bold r:id="rId28"/>
      <p:italic r:id="rId29"/>
      <p:boldItalic r:id="rId30"/>
    </p:embeddedFont>
    <p:embeddedFont>
      <p:font typeface="Lato Ligh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Slab-bold.fntdata"/><Relationship Id="rId25" Type="http://schemas.openxmlformats.org/officeDocument/2006/relationships/font" Target="fonts/RobotoSlab-regular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Light-regular.fntdata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33" Type="http://schemas.openxmlformats.org/officeDocument/2006/relationships/font" Target="fonts/LatoLight-italic.fntdata"/><Relationship Id="rId10" Type="http://schemas.openxmlformats.org/officeDocument/2006/relationships/slide" Target="slides/slide5.xml"/><Relationship Id="rId32" Type="http://schemas.openxmlformats.org/officeDocument/2006/relationships/font" Target="fonts/LatoLigh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LatoLight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a66ed6c38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a66ed6c38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66ed6c38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66ed6c38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d28a87e5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d28a87e5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d28a87e5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d28a87e5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42fdeb8a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42fdeb8a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d28a87e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d28a87e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d28a87e5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d28a87e5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42fdeb8a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42fdeb8a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d28a87e5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d28a87e5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d28a87e5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d28a87e5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432a5d3b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432a5d3b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42fdeb8a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42fdeb8a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437bc6f1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437bc6f1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42fdeb8a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42fdeb8a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42fdeb8a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42fdeb8a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42fdeb8a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42fdeb8a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42fdeb8a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42fdeb8a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42fdeb8a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42fdeb8a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 Slide_Red">
  <p:cSld name="9_Title Slide_Red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1143000" y="1963600"/>
            <a:ext cx="68580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Roboto Slab"/>
              <a:buNone/>
              <a:defRPr b="0" sz="3600">
                <a:solidFill>
                  <a:schemeClr val="accent6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143000" y="3176293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2"/>
          <p:cNvSpPr/>
          <p:nvPr/>
        </p:nvSpPr>
        <p:spPr>
          <a:xfrm>
            <a:off x="117231" y="123092"/>
            <a:ext cx="8903700" cy="49179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88069" y="1027496"/>
            <a:ext cx="762002" cy="831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117231" y="123092"/>
            <a:ext cx="8903700" cy="4917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and Content_Tan">
  <p:cSld name="5_Title and Content_Ta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1359878" y="1369219"/>
            <a:ext cx="7155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" name="Google Shape;31;p5"/>
          <p:cNvCxnSpPr/>
          <p:nvPr/>
        </p:nvCxnSpPr>
        <p:spPr>
          <a:xfrm>
            <a:off x="720969" y="1369219"/>
            <a:ext cx="0" cy="326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2" name="Google Shape;3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3842" y="435356"/>
            <a:ext cx="614769" cy="671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6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6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6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6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>
            <a:lvl1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Google Shape;41;p7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" name="Google Shape;42;p7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CE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oboto Slab"/>
              <a:buNone/>
              <a:defRPr b="0" i="0" sz="33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 &amp; Predictive Modeling</a:t>
            </a:r>
            <a:endParaRPr/>
          </a:p>
        </p:txBody>
      </p:sp>
      <p:sp>
        <p:nvSpPr>
          <p:cNvPr id="52" name="Google Shape;52;p8"/>
          <p:cNvSpPr txBox="1"/>
          <p:nvPr>
            <p:ph idx="1" type="subTitle"/>
          </p:nvPr>
        </p:nvSpPr>
        <p:spPr>
          <a:xfrm>
            <a:off x="2390275" y="3722250"/>
            <a:ext cx="6331500" cy="75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Harrison Cradduck, Marah Donahoe,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Joey Endres, &amp; William Knapp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628650" y="20746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Project Overview</a:t>
            </a:r>
            <a:endParaRPr b="1" sz="4500"/>
          </a:p>
        </p:txBody>
      </p:sp>
      <p:cxnSp>
        <p:nvCxnSpPr>
          <p:cNvPr id="58" name="Google Shape;58;p9"/>
          <p:cNvCxnSpPr/>
          <p:nvPr/>
        </p:nvCxnSpPr>
        <p:spPr>
          <a:xfrm>
            <a:off x="628650" y="3435669"/>
            <a:ext cx="7886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9"/>
          <p:cNvCxnSpPr/>
          <p:nvPr/>
        </p:nvCxnSpPr>
        <p:spPr>
          <a:xfrm>
            <a:off x="628650" y="1707819"/>
            <a:ext cx="7886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1359878" y="1369219"/>
            <a:ext cx="7155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Producers/record labels make money when their signed artists and bands create popular songs, so our goal to help them get a better understanding of what makes a song “popular” or “viral” by building models to predict the success/popularity of a song on YouTube (</a:t>
            </a:r>
            <a:r>
              <a:rPr lang="en" sz="1800"/>
              <a:t>measured</a:t>
            </a:r>
            <a:r>
              <a:rPr lang="en" sz="1800"/>
              <a:t> as number of views) through the use of predictors like genre, artist history &amp; type, song audio features, and sentiment analysis of the lyrics and song title.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628650" y="20746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Data Collection/Analysis Review</a:t>
            </a:r>
            <a:endParaRPr b="1" sz="4500"/>
          </a:p>
        </p:txBody>
      </p:sp>
      <p:cxnSp>
        <p:nvCxnSpPr>
          <p:cNvPr id="71" name="Google Shape;71;p11"/>
          <p:cNvCxnSpPr/>
          <p:nvPr/>
        </p:nvCxnSpPr>
        <p:spPr>
          <a:xfrm>
            <a:off x="628650" y="3435669"/>
            <a:ext cx="7886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" name="Google Shape;72;p11"/>
          <p:cNvCxnSpPr/>
          <p:nvPr/>
        </p:nvCxnSpPr>
        <p:spPr>
          <a:xfrm>
            <a:off x="628650" y="1707819"/>
            <a:ext cx="7886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</a:t>
            </a:r>
            <a:endParaRPr/>
          </a:p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>
            <a:off x="898726" y="1345575"/>
            <a:ext cx="36732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Data collection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Spotify audio features (Kaggle datasets)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Artist features (</a:t>
            </a:r>
            <a:r>
              <a:rPr lang="en"/>
              <a:t>Musicbrainz</a:t>
            </a:r>
            <a:r>
              <a:rPr lang="en"/>
              <a:t> API &amp; Wikidata SPARQL)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YouTube metrics (yt-dlp)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Lyrics (Genius API)</a:t>
            </a:r>
            <a:endParaRPr/>
          </a:p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4842276" y="1345575"/>
            <a:ext cx="36732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preparation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Resolve missingness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Type conversions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Dummy-coding</a:t>
            </a:r>
            <a:endParaRPr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EDA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Visuals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Bar, line, column, heat, scatter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Descriptive summaries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Additional Steps</a:t>
            </a:r>
            <a:endParaRPr sz="2800"/>
          </a:p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1359878" y="1369219"/>
            <a:ext cx="7155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Removed Spanish songs before topic modeling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Renamed song keys to </a:t>
            </a:r>
            <a:r>
              <a:rPr lang="en"/>
              <a:t>interpretable</a:t>
            </a:r>
            <a:r>
              <a:rPr lang="en"/>
              <a:t> letters (previously </a:t>
            </a:r>
            <a:r>
              <a:rPr lang="en"/>
              <a:t>numbers</a:t>
            </a:r>
            <a:r>
              <a:rPr lang="en"/>
              <a:t>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Dropped unnecessary columns for modeling, including unique identifiers (title, artist)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Lyric cleaning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 stop words/punctuation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Tokenization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Create WordCloud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628650" y="20746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Feature Engineering</a:t>
            </a:r>
            <a:endParaRPr b="1" sz="4500"/>
          </a:p>
        </p:txBody>
      </p:sp>
      <p:cxnSp>
        <p:nvCxnSpPr>
          <p:cNvPr id="91" name="Google Shape;91;p14"/>
          <p:cNvCxnSpPr/>
          <p:nvPr/>
        </p:nvCxnSpPr>
        <p:spPr>
          <a:xfrm>
            <a:off x="628650" y="3435669"/>
            <a:ext cx="7886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4"/>
          <p:cNvCxnSpPr/>
          <p:nvPr/>
        </p:nvCxnSpPr>
        <p:spPr>
          <a:xfrm>
            <a:off x="628650" y="1707819"/>
            <a:ext cx="7886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Text Mining: Sentiment/Lexical Analysis</a:t>
            </a:r>
            <a:endParaRPr sz="2800"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1359878" y="1369219"/>
            <a:ext cx="7155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Sentiment analysis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Positive, negative, neutral, and compound sentiment for titles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Positive, negative, neutral, and compound sentiment for lyrics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Sentiment subjectivity analysis for lyrics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Lexical feature analysis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Word count, unique word count, average word length, vocab richness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Text Mining: LDA Topic Modeling</a:t>
            </a:r>
            <a:endParaRPr sz="2800"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1359878" y="1369219"/>
            <a:ext cx="7155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LDA topic modeling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Iterate through topic numbers to find optimal topic number (best coherence, little to no overlap in topics)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Settled on 7 topics with very little overlap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Named topics for dataset by having ChatGPT assess top 30 words in each topic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628650" y="20746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Predictive Modeling</a:t>
            </a:r>
            <a:endParaRPr b="1" sz="4500"/>
          </a:p>
        </p:txBody>
      </p:sp>
      <p:cxnSp>
        <p:nvCxnSpPr>
          <p:cNvPr id="110" name="Google Shape;110;p17"/>
          <p:cNvCxnSpPr/>
          <p:nvPr/>
        </p:nvCxnSpPr>
        <p:spPr>
          <a:xfrm>
            <a:off x="628650" y="3435669"/>
            <a:ext cx="7886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7"/>
          <p:cNvCxnSpPr/>
          <p:nvPr/>
        </p:nvCxnSpPr>
        <p:spPr>
          <a:xfrm>
            <a:off x="628650" y="1707819"/>
            <a:ext cx="7886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 Practices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Split</a:t>
            </a:r>
            <a:r>
              <a:rPr lang="en" sz="1800"/>
              <a:t>: 70% training &amp; 30% testing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Random State: </a:t>
            </a:r>
            <a:r>
              <a:rPr lang="en" sz="1800"/>
              <a:t>1234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Predictors: </a:t>
            </a:r>
            <a:r>
              <a:rPr lang="en" sz="1800"/>
              <a:t>all predictors in the dataset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Cross-validation:</a:t>
            </a:r>
            <a:r>
              <a:rPr lang="en" sz="1800"/>
              <a:t> 3 or 5 folds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Grid Search</a:t>
            </a:r>
            <a:endParaRPr b="1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Tree Classifier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1359875" y="1369251"/>
            <a:ext cx="7155600" cy="3711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Predicting</a:t>
            </a:r>
            <a:r>
              <a:rPr lang="en" sz="1800"/>
              <a:t>: viral or not viral (balanced classes)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V</a:t>
            </a:r>
            <a:r>
              <a:rPr lang="en" sz="1800"/>
              <a:t>iral being view_count </a:t>
            </a:r>
            <a:r>
              <a:rPr lang="en"/>
              <a:t>≥</a:t>
            </a:r>
            <a:r>
              <a:rPr lang="en" sz="1800"/>
              <a:t> 100,000,000 (34.2%)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Best Parameters</a:t>
            </a:r>
            <a:r>
              <a:rPr lang="en" sz="1800"/>
              <a:t>: </a:t>
            </a:r>
            <a:r>
              <a:rPr lang="en" sz="1800"/>
              <a:t>criterion: gini, max_depth: 4, min_samples_split: 2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Results</a:t>
            </a:r>
            <a:r>
              <a:rPr lang="en" sz="1800"/>
              <a:t>: 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Accuracy = 0.58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Precision = 0.62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Recall = 0.58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F1 = 0.59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AUC = 0.58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Regressor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1359878" y="1369219"/>
            <a:ext cx="7155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Predicting</a:t>
            </a:r>
            <a:r>
              <a:rPr lang="en" sz="1800"/>
              <a:t>: view count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Best Parameters</a:t>
            </a:r>
            <a:r>
              <a:rPr lang="en" sz="1800"/>
              <a:t>: n_estimators: 100,  min_samples_leaf: 4, min_samples_split: 10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Results</a:t>
            </a:r>
            <a:r>
              <a:rPr lang="en" sz="1800"/>
              <a:t>: 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Best MSE =  1.70 * 10^17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Final RMSE  = 407.5 Million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Final R^2 = 13.8%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Classifier</a:t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1359875" y="1369226"/>
            <a:ext cx="7155600" cy="377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Predicting</a:t>
            </a:r>
            <a:r>
              <a:rPr lang="en" sz="1800"/>
              <a:t>: viral or not viral (balanced classes)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Viral being view_count ≥ 100,000,000 (34.2%)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Best Parameters</a:t>
            </a:r>
            <a:r>
              <a:rPr lang="en" sz="1800"/>
              <a:t>: n_estimators: 300,  max_depth: 20, min_samples_leaf: 4, min_samples_split: 10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Results</a:t>
            </a:r>
            <a:r>
              <a:rPr lang="en" sz="1800"/>
              <a:t>: </a:t>
            </a:r>
            <a:endParaRPr sz="18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Accuracy: 0.732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Sensitivity: 0.362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Specificity: 0.924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3633738" y="3363623"/>
            <a:ext cx="3023700" cy="1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9144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 sz="1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F1 Score: 0.48</a:t>
            </a:r>
            <a:endParaRPr sz="18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 sz="1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AUC: 0.752</a:t>
            </a:r>
            <a:endParaRPr sz="21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 Regressor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1359878" y="1369219"/>
            <a:ext cx="7155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Predicting</a:t>
            </a:r>
            <a:r>
              <a:rPr lang="en" sz="1800"/>
              <a:t>: view count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Best Parameters</a:t>
            </a:r>
            <a:r>
              <a:rPr lang="en" sz="1800"/>
              <a:t>: n_estimators: 300, learning_rate: 0.01, max_depth: 7, min_child_weight: 7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Results</a:t>
            </a:r>
            <a:r>
              <a:rPr lang="en" sz="1800"/>
              <a:t>: 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max error:  6,607,248,574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mean absolute error:  197,891,597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mean squared error:  1.65e+17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R^2:  14.46%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 </a:t>
            </a:r>
            <a:r>
              <a:rPr lang="en"/>
              <a:t>Classifier</a:t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1359878" y="1369219"/>
            <a:ext cx="7155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Predicting</a:t>
            </a:r>
            <a:r>
              <a:rPr lang="en" sz="1800"/>
              <a:t>: viral or not viral (balanced classes)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Viral being view_count ≥ 100,000,000 (34.2%)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Best Parameters</a:t>
            </a:r>
            <a:r>
              <a:rPr lang="en" sz="1800"/>
              <a:t>: n_estimators: 400, learning_rate: 0.015, max_depth: 8, min_child_weight: 7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Results</a:t>
            </a:r>
            <a:r>
              <a:rPr lang="en" sz="1800"/>
              <a:t>: </a:t>
            </a:r>
            <a:endParaRPr sz="18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Accuracy: 0.71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Precision: 0.65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Recall: 0.40</a:t>
            </a:r>
            <a:endParaRPr/>
          </a:p>
        </p:txBody>
      </p:sp>
      <p:sp>
        <p:nvSpPr>
          <p:cNvPr id="149" name="Google Shape;149;p23"/>
          <p:cNvSpPr txBox="1"/>
          <p:nvPr/>
        </p:nvSpPr>
        <p:spPr>
          <a:xfrm>
            <a:off x="3633738" y="3363623"/>
            <a:ext cx="3023700" cy="1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9144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 sz="1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F1 Score: 0.50</a:t>
            </a:r>
            <a:endParaRPr sz="18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 sz="1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AUC: 0.75</a:t>
            </a:r>
            <a:endParaRPr sz="21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Vector Regression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1359878" y="1369219"/>
            <a:ext cx="7155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Predicting</a:t>
            </a:r>
            <a:r>
              <a:rPr lang="en" sz="1800"/>
              <a:t>: view count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Best Parameters</a:t>
            </a:r>
            <a:r>
              <a:rPr lang="en" sz="1800"/>
              <a:t>: C: 10 , epsilon: 0.5 , gamma: 0.01 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Results</a:t>
            </a:r>
            <a:r>
              <a:rPr lang="en" sz="1800"/>
              <a:t>: 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mean squared error:  0.14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Predictors were scaled so not meaningful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r2 score: 18.3%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Both </a:t>
            </a:r>
            <a:r>
              <a:rPr lang="en" sz="2000"/>
              <a:t>continuous</a:t>
            </a:r>
            <a:r>
              <a:rPr lang="en" sz="2000"/>
              <a:t> and binary responses appear valid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R^2 is low overall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Expected as artist name/popularity is likely most important predictor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AUC is decent of XGBoost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SVR exhibits highest R^2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Next Steps</a:t>
            </a:r>
            <a:endParaRPr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" sz="2000"/>
              <a:t>Choose response variable type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Refine modeling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Prepare final </a:t>
            </a:r>
            <a:r>
              <a:rPr lang="en" sz="2000"/>
              <a:t>presentation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Finish GitHub repository (technical report)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C41230"/>
      </a:dk1>
      <a:lt1>
        <a:srgbClr val="FAF9F7"/>
      </a:lt1>
      <a:dk2>
        <a:srgbClr val="C41230"/>
      </a:dk2>
      <a:lt2>
        <a:srgbClr val="FAF9F7"/>
      </a:lt2>
      <a:accent1>
        <a:srgbClr val="ECEDE2"/>
      </a:accent1>
      <a:accent2>
        <a:srgbClr val="941728"/>
      </a:accent2>
      <a:accent3>
        <a:srgbClr val="007B89"/>
      </a:accent3>
      <a:accent4>
        <a:srgbClr val="000000"/>
      </a:accent4>
      <a:accent5>
        <a:srgbClr val="262626"/>
      </a:accent5>
      <a:accent6>
        <a:srgbClr val="FFFFFF"/>
      </a:accent6>
      <a:hlink>
        <a:srgbClr val="007B89"/>
      </a:hlink>
      <a:folHlink>
        <a:srgbClr val="94172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